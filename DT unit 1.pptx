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7"/>
  </p:notesMasterIdLst>
  <p:sldIdLst>
    <p:sldId id="387" r:id="rId2"/>
    <p:sldId id="352" r:id="rId3"/>
    <p:sldId id="464" r:id="rId4"/>
    <p:sldId id="325" r:id="rId5"/>
    <p:sldId id="509" r:id="rId6"/>
    <p:sldId id="510" r:id="rId7"/>
    <p:sldId id="511" r:id="rId8"/>
    <p:sldId id="512" r:id="rId9"/>
    <p:sldId id="508" r:id="rId10"/>
    <p:sldId id="498" r:id="rId11"/>
    <p:sldId id="499" r:id="rId12"/>
    <p:sldId id="500" r:id="rId13"/>
    <p:sldId id="501" r:id="rId14"/>
    <p:sldId id="502" r:id="rId15"/>
    <p:sldId id="503" r:id="rId16"/>
    <p:sldId id="504" r:id="rId17"/>
    <p:sldId id="505" r:id="rId18"/>
    <p:sldId id="506" r:id="rId19"/>
    <p:sldId id="507" r:id="rId20"/>
    <p:sldId id="513" r:id="rId21"/>
    <p:sldId id="514" r:id="rId22"/>
    <p:sldId id="515" r:id="rId23"/>
    <p:sldId id="516" r:id="rId24"/>
    <p:sldId id="465" r:id="rId25"/>
    <p:sldId id="389" r:id="rId26"/>
    <p:sldId id="517" r:id="rId27"/>
    <p:sldId id="518" r:id="rId28"/>
    <p:sldId id="519" r:id="rId29"/>
    <p:sldId id="520" r:id="rId30"/>
    <p:sldId id="521" r:id="rId31"/>
    <p:sldId id="524" r:id="rId32"/>
    <p:sldId id="523" r:id="rId33"/>
    <p:sldId id="525" r:id="rId34"/>
    <p:sldId id="526" r:id="rId35"/>
    <p:sldId id="522" r:id="rId36"/>
    <p:sldId id="527" r:id="rId37"/>
    <p:sldId id="532" r:id="rId38"/>
    <p:sldId id="528" r:id="rId39"/>
    <p:sldId id="529" r:id="rId40"/>
    <p:sldId id="530" r:id="rId41"/>
    <p:sldId id="531" r:id="rId42"/>
    <p:sldId id="470" r:id="rId43"/>
    <p:sldId id="534" r:id="rId44"/>
    <p:sldId id="535" r:id="rId45"/>
    <p:sldId id="536" r:id="rId46"/>
    <p:sldId id="537" r:id="rId47"/>
    <p:sldId id="538" r:id="rId48"/>
    <p:sldId id="539" r:id="rId49"/>
    <p:sldId id="540" r:id="rId50"/>
    <p:sldId id="541" r:id="rId51"/>
    <p:sldId id="542" r:id="rId52"/>
    <p:sldId id="543" r:id="rId53"/>
    <p:sldId id="544" r:id="rId54"/>
    <p:sldId id="547" r:id="rId55"/>
    <p:sldId id="549" r:id="rId56"/>
    <p:sldId id="550" r:id="rId57"/>
    <p:sldId id="551" r:id="rId58"/>
    <p:sldId id="545" r:id="rId59"/>
    <p:sldId id="552" r:id="rId60"/>
    <p:sldId id="554" r:id="rId61"/>
    <p:sldId id="553" r:id="rId62"/>
    <p:sldId id="555" r:id="rId63"/>
    <p:sldId id="556" r:id="rId64"/>
    <p:sldId id="557" r:id="rId65"/>
    <p:sldId id="358" r:id="rId66"/>
  </p:sldIdLst>
  <p:sldSz cx="12192000" cy="6858000"/>
  <p:notesSz cx="6858000" cy="9144000"/>
  <p:embeddedFontLst>
    <p:embeddedFont>
      <p:font typeface="Wingdings 3" panose="05040102010807070707" pitchFamily="18" charset="2"/>
      <p:regular r:id="rId68"/>
    </p:embeddedFont>
    <p:embeddedFont>
      <p:font typeface="Roboto Condensed Light" panose="02000000000000000000" pitchFamily="2" charset="0"/>
      <p:regular r:id="rId69"/>
      <p:italic r:id="rId70"/>
    </p:embeddedFont>
    <p:embeddedFont>
      <p:font typeface="Wingdings 2" panose="05020102010507070707" pitchFamily="18" charset="2"/>
      <p:regular r:id="rId71"/>
    </p:embeddedFont>
    <p:embeddedFont>
      <p:font typeface="Segoe UI Black" panose="020B0A02040204020203" pitchFamily="34" charset="0"/>
      <p:bold r:id="rId72"/>
      <p:boldItalic r:id="rId73"/>
    </p:embeddedFont>
    <p:embeddedFont>
      <p:font typeface="Roboto Condensed" panose="02000000000000000000" pitchFamily="2" charset="0"/>
      <p:regular r:id="rId74"/>
      <p:bold r:id="rId75"/>
      <p:italic r:id="rId76"/>
      <p:boldItalic r:id="rId77"/>
    </p:embeddedFont>
    <p:embeddedFont>
      <p:font typeface="Calibri" panose="020F0502020204030204" pitchFamily="34" charset="0"/>
      <p:regular r:id="rId78"/>
      <p:bold r:id="rId79"/>
      <p:italic r:id="rId80"/>
      <p:boldItalic r:id="rId81"/>
    </p:embeddedFont>
    <p:embeddedFont>
      <p:font typeface="Consolas" panose="020B0609020204030204" pitchFamily="49" charset="0"/>
      <p:regular r:id="rId82"/>
      <p:bold r:id="rId83"/>
      <p:italic r:id="rId84"/>
      <p:boldItalic r:id="rId8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Wt0dRd9tufwtXIbRpaYSjA==" hashData="kiEgJ39ll8jV3xLh1icu5oyUI65ddKIhlFYV3FQh3dgjXhdiiDUzodT7E8dZEUENLSYEhBmQSSqWH+sfyBvTZg=="/>
  <p:extLst>
    <p:ext uri="{521415D9-36F7-43E2-AB2F-B90AF26B5E84}">
      <p14:sectionLst xmlns:p14="http://schemas.microsoft.com/office/powerpoint/2010/main">
        <p14:section name="Default Section" id="{225660AA-081D-420C-B1CD-7511E9F03FA9}">
          <p14:sldIdLst>
            <p14:sldId id="387"/>
            <p14:sldId id="352"/>
          </p14:sldIdLst>
        </p14:section>
        <p14:section name="Foundations &amp; the local workflow" id="{2C701190-4495-49BC-804F-B49DDF3E3FCE}">
          <p14:sldIdLst>
            <p14:sldId id="464"/>
            <p14:sldId id="325"/>
            <p14:sldId id="509"/>
            <p14:sldId id="510"/>
            <p14:sldId id="511"/>
            <p14:sldId id="512"/>
            <p14:sldId id="508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13"/>
            <p14:sldId id="514"/>
            <p14:sldId id="515"/>
            <p14:sldId id="516"/>
          </p14:sldIdLst>
        </p14:section>
        <p14:section name="Mastering commits and undoing mistakes" id="{312C783A-A009-4FC7-9BA2-8B4EDB63E27E}">
          <p14:sldIdLst>
            <p14:sldId id="465"/>
            <p14:sldId id="389"/>
            <p14:sldId id="517"/>
            <p14:sldId id="518"/>
            <p14:sldId id="519"/>
            <p14:sldId id="520"/>
            <p14:sldId id="521"/>
            <p14:sldId id="524"/>
            <p14:sldId id="523"/>
            <p14:sldId id="525"/>
            <p14:sldId id="526"/>
            <p14:sldId id="522"/>
            <p14:sldId id="527"/>
            <p14:sldId id="532"/>
            <p14:sldId id="528"/>
            <p14:sldId id="529"/>
            <p14:sldId id="530"/>
            <p14:sldId id="531"/>
          </p14:sldIdLst>
        </p14:section>
        <p14:section name="Branching and Merging" id="{BDF71FDF-804D-458F-9358-EDB52F0CBEC0}">
          <p14:sldIdLst>
            <p14:sldId id="470"/>
            <p14:sldId id="534"/>
            <p14:sldId id="535"/>
            <p14:sldId id="536"/>
            <p14:sldId id="537"/>
            <p14:sldId id="538"/>
            <p14:sldId id="539"/>
            <p14:sldId id="540"/>
          </p14:sldIdLst>
        </p14:section>
        <p14:section name="Github &amp; remote collaborations" id="{42714A07-EB64-4AA8-8687-1B1F11FA9408}">
          <p14:sldIdLst>
            <p14:sldId id="541"/>
            <p14:sldId id="542"/>
            <p14:sldId id="543"/>
            <p14:sldId id="544"/>
            <p14:sldId id="547"/>
            <p14:sldId id="549"/>
            <p14:sldId id="550"/>
            <p14:sldId id="551"/>
            <p14:sldId id="545"/>
            <p14:sldId id="552"/>
          </p14:sldIdLst>
        </p14:section>
        <p14:section name="Advance git: rebase &amp; reflog." id="{EA60C0CA-F9AA-491B-A7B5-D69F6A5271F5}">
          <p14:sldIdLst>
            <p14:sldId id="554"/>
            <p14:sldId id="553"/>
            <p14:sldId id="555"/>
            <p14:sldId id="556"/>
            <p14:sldId id="557"/>
            <p14:sldId id="3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1F6"/>
    <a:srgbClr val="FE9900"/>
    <a:srgbClr val="EA4335"/>
    <a:srgbClr val="FF33CC"/>
    <a:srgbClr val="FF9900"/>
    <a:srgbClr val="12596F"/>
    <a:srgbClr val="135A70"/>
    <a:srgbClr val="EC1A23"/>
    <a:srgbClr val="0089D6"/>
    <a:srgbClr val="301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9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8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1.fntdata"/><Relationship Id="rId84" Type="http://schemas.openxmlformats.org/officeDocument/2006/relationships/font" Target="fonts/font17.fntdata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2.fntdata"/><Relationship Id="rId77" Type="http://schemas.openxmlformats.org/officeDocument/2006/relationships/font" Target="fonts/font10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5.fntdata"/><Relationship Id="rId80" Type="http://schemas.openxmlformats.org/officeDocument/2006/relationships/font" Target="fonts/font13.fntdata"/><Relationship Id="rId85" Type="http://schemas.openxmlformats.org/officeDocument/2006/relationships/font" Target="fonts/font1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83" Type="http://schemas.openxmlformats.org/officeDocument/2006/relationships/font" Target="fonts/font16.fntdata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81" Type="http://schemas.openxmlformats.org/officeDocument/2006/relationships/font" Target="fonts/font14.fntdata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9.fntdata"/><Relationship Id="rId7" Type="http://schemas.openxmlformats.org/officeDocument/2006/relationships/slide" Target="slides/slide6.xml"/><Relationship Id="rId71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font" Target="fonts/font15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2605CS104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83850B28-CC58-6D3C-0F29-B7ED3CCA08E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5E8EBF0-036B-53D0-610D-6B1B6EE3C523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2605CS104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CB9E240-0A33-0092-D463-509F8357095E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0A40449-9541-949E-F16D-D204E6AB9361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2605CS104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3FA2B-D7A9-1B1E-35F3-8F8782FD9BC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4DB503-02F5-9A51-3075-E03ED7BE507E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2605CS104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8CC24E-CC70-4421-2562-6B4C58299D72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C1F94-56FC-A386-B823-68996B905452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2605CS104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F258E-D152-F3A1-63F7-65A9039A999D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Samir Kariya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4252D-A6A3-C8C0-72EC-2F0EA5D558A4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2605CS104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(DT)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Development Tools (DevTools)</a:t>
            </a:r>
          </a:p>
          <a:p>
            <a:pPr lvl="0"/>
            <a:r>
              <a:rPr lang="en-US" dirty="0"/>
              <a:t>DU # 2605CS104 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pic>
        <p:nvPicPr>
          <p:cNvPr id="5" name="Picture 4" descr="An Ultimate Guide to Git and Github - GeeksforGeeks">
            <a:extLst>
              <a:ext uri="{FF2B5EF4-FFF2-40B4-BE49-F238E27FC236}">
                <a16:creationId xmlns:a16="http://schemas.microsoft.com/office/drawing/2014/main" id="{742BC12B-430B-7876-E692-226B01F9ED25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888931" y="2093024"/>
            <a:ext cx="4008928" cy="223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git-scm.com/install/windows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samir@example.com" TargetMode="Externa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mailto:user_email@gmail.com" TargetMode="Externa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samir.kariya@darshan.ac.in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9427148490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Samir Kariya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Development Tools</a:t>
            </a:r>
            <a:endParaRPr lang="en-IN" dirty="0"/>
          </a:p>
          <a:p>
            <a:r>
              <a:rPr lang="en-IN" dirty="0"/>
              <a:t>DU #</a:t>
            </a:r>
            <a:r>
              <a:rPr lang="en-US" dirty="0"/>
              <a:t>2605CS104 </a:t>
            </a:r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637" y="5176199"/>
            <a:ext cx="1353599" cy="1380227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Unit-01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32346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733541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Foundations &amp; the local workflow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Mastering commits and undoing mistakes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Branching &amp; Merging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GitHub &amp; Remote collaborations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Advance Git: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rebase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 err="1"/>
              <a:t>reflog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8ED4-30E6-F87A-D01A-6862E61F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Foundations &amp; the local workflow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70746-51F9-3C0F-5984-4732910F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F487E"/>
                </a:solidFill>
              </a:rPr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42340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D5F8-87CB-4B5B-8EC7-5F4CE6485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428D-8F15-4206-B337-FA27C005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8" y="2273969"/>
            <a:ext cx="5871411" cy="50532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I need a simple Student Management System.</a:t>
            </a:r>
          </a:p>
          <a:p>
            <a:endParaRPr lang="en-IN" dirty="0"/>
          </a:p>
        </p:txBody>
      </p:sp>
      <p:pic>
        <p:nvPicPr>
          <p:cNvPr id="4" name="Picture 3" descr="Download Free Client Icons in PNG &amp; SVG | Magnific (formerly ...">
            <a:extLst>
              <a:ext uri="{FF2B5EF4-FFF2-40B4-BE49-F238E27FC236}">
                <a16:creationId xmlns:a16="http://schemas.microsoft.com/office/drawing/2014/main" id="{0DD794E7-5CEB-C153-9E96-F514339EA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" y="711201"/>
            <a:ext cx="1409700" cy="140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D97A77-0403-868D-9C9A-16FD8BCA3D72}"/>
              </a:ext>
            </a:extLst>
          </p:cNvPr>
          <p:cNvSpPr txBox="1">
            <a:spLocks/>
          </p:cNvSpPr>
          <p:nvPr/>
        </p:nvSpPr>
        <p:spPr>
          <a:xfrm>
            <a:off x="6322590" y="2779295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Create a Project with following features: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Add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Display student</a:t>
            </a:r>
          </a:p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870051-74DB-17F6-A40B-04D860505304}"/>
              </a:ext>
            </a:extLst>
          </p:cNvPr>
          <p:cNvCxnSpPr>
            <a:cxnSpLocks/>
          </p:cNvCxnSpPr>
          <p:nvPr/>
        </p:nvCxnSpPr>
        <p:spPr>
          <a:xfrm>
            <a:off x="753979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0E7E98-E106-1597-682A-E4B3F1F2B2EF}"/>
              </a:ext>
            </a:extLst>
          </p:cNvPr>
          <p:cNvCxnSpPr>
            <a:cxnSpLocks/>
          </p:cNvCxnSpPr>
          <p:nvPr/>
        </p:nvCxnSpPr>
        <p:spPr>
          <a:xfrm>
            <a:off x="11252535" y="2181138"/>
            <a:ext cx="0" cy="4099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80034CB-64A6-B737-5C3A-D0D6E36CCDC2}"/>
              </a:ext>
            </a:extLst>
          </p:cNvPr>
          <p:cNvSpPr txBox="1">
            <a:spLocks/>
          </p:cNvSpPr>
          <p:nvPr/>
        </p:nvSpPr>
        <p:spPr>
          <a:xfrm>
            <a:off x="753977" y="3683669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</a:rPr>
              <a:t>Excellent!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EB74191-D421-5C2E-CF89-30CBFFEADFF5}"/>
              </a:ext>
            </a:extLst>
          </p:cNvPr>
          <p:cNvSpPr txBox="1">
            <a:spLocks/>
          </p:cNvSpPr>
          <p:nvPr/>
        </p:nvSpPr>
        <p:spPr>
          <a:xfrm>
            <a:off x="753977" y="4227867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After 10 Minutes...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Sorry... I forgot one feature.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Can you also add </a:t>
            </a:r>
            <a:r>
              <a:rPr lang="en-IN" b="1" dirty="0">
                <a:solidFill>
                  <a:srgbClr val="002060"/>
                </a:solidFill>
              </a:rPr>
              <a:t>Search Student</a:t>
            </a:r>
            <a:r>
              <a:rPr lang="en-IN" dirty="0">
                <a:solidFill>
                  <a:srgbClr val="002060"/>
                </a:solidFill>
              </a:rPr>
              <a:t>?"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B712DF-2DE3-9A59-E1C9-086B887E40B0}"/>
              </a:ext>
            </a:extLst>
          </p:cNvPr>
          <p:cNvSpPr txBox="1">
            <a:spLocks/>
          </p:cNvSpPr>
          <p:nvPr/>
        </p:nvSpPr>
        <p:spPr>
          <a:xfrm>
            <a:off x="6980311" y="4862765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You Think and say “No Problem”</a:t>
            </a:r>
          </a:p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Your software has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Add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Display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Search student</a:t>
            </a:r>
          </a:p>
        </p:txBody>
      </p:sp>
      <p:pic>
        <p:nvPicPr>
          <p:cNvPr id="18" name="Picture 17" descr="Client - Free business icons">
            <a:extLst>
              <a:ext uri="{FF2B5EF4-FFF2-40B4-BE49-F238E27FC236}">
                <a16:creationId xmlns:a16="http://schemas.microsoft.com/office/drawing/2014/main" id="{03CB15FE-6B0D-378E-F8D9-20670816C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126" y="618157"/>
            <a:ext cx="1741125" cy="1741125"/>
          </a:xfrm>
          <a:prstGeom prst="rect">
            <a:avLst/>
          </a:prstGeom>
        </p:spPr>
      </p:pic>
      <p:pic>
        <p:nvPicPr>
          <p:cNvPr id="19" name="Picture 18" descr="Software engineer - Free computer icons">
            <a:extLst>
              <a:ext uri="{FF2B5EF4-FFF2-40B4-BE49-F238E27FC236}">
                <a16:creationId xmlns:a16="http://schemas.microsoft.com/office/drawing/2014/main" id="{D2F81D88-E970-5A72-D18D-26CC182E4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459" y="771082"/>
            <a:ext cx="1289938" cy="1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3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DF83A-F12E-E81D-BB6B-0F0D5E9C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ADC6-0CC9-73C5-56DA-B9A33D93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6E2F1-65A7-A0EF-FA14-3CC62216B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8" y="2273969"/>
            <a:ext cx="5871411" cy="505326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After another 10 minutes ….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Actually... Display Student is not required anymore.“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"Instead, I want </a:t>
            </a:r>
            <a:r>
              <a:rPr lang="en-IN" b="1" dirty="0">
                <a:solidFill>
                  <a:srgbClr val="002060"/>
                </a:solidFill>
              </a:rPr>
              <a:t>Update Student</a:t>
            </a:r>
            <a:r>
              <a:rPr lang="en-IN" dirty="0">
                <a:solidFill>
                  <a:srgbClr val="002060"/>
                </a:solidFill>
              </a:rPr>
              <a:t>."</a:t>
            </a:r>
          </a:p>
        </p:txBody>
      </p:sp>
      <p:pic>
        <p:nvPicPr>
          <p:cNvPr id="4" name="Picture 3" descr="Download Free Client Icons in PNG &amp; SVG | Magnific (formerly ...">
            <a:extLst>
              <a:ext uri="{FF2B5EF4-FFF2-40B4-BE49-F238E27FC236}">
                <a16:creationId xmlns:a16="http://schemas.microsoft.com/office/drawing/2014/main" id="{9304425B-F1E0-E796-6A73-53C054207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" y="711201"/>
            <a:ext cx="1409700" cy="140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FC6831C-E57B-EE94-3A31-A74BCCBD3A50}"/>
              </a:ext>
            </a:extLst>
          </p:cNvPr>
          <p:cNvSpPr txBox="1">
            <a:spLocks/>
          </p:cNvSpPr>
          <p:nvPr/>
        </p:nvSpPr>
        <p:spPr>
          <a:xfrm>
            <a:off x="6753142" y="2628398"/>
            <a:ext cx="4499393" cy="1601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Ok. You have overwrite the old code and save the file.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Add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Search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Update student</a:t>
            </a:r>
          </a:p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spcBef>
                <a:spcPts val="0"/>
              </a:spcBef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C1CCEC-E103-B53C-2D7F-90D3B0CFA6D5}"/>
              </a:ext>
            </a:extLst>
          </p:cNvPr>
          <p:cNvCxnSpPr>
            <a:cxnSpLocks/>
          </p:cNvCxnSpPr>
          <p:nvPr/>
        </p:nvCxnSpPr>
        <p:spPr>
          <a:xfrm>
            <a:off x="753979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42D1C7-5910-4BBB-6AED-E4438CAD9710}"/>
              </a:ext>
            </a:extLst>
          </p:cNvPr>
          <p:cNvCxnSpPr>
            <a:cxnSpLocks/>
          </p:cNvCxnSpPr>
          <p:nvPr/>
        </p:nvCxnSpPr>
        <p:spPr>
          <a:xfrm>
            <a:off x="11252535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E9C6D21-4F09-1E0A-3641-61B8B9D2BE2A}"/>
              </a:ext>
            </a:extLst>
          </p:cNvPr>
          <p:cNvSpPr txBox="1">
            <a:spLocks/>
          </p:cNvSpPr>
          <p:nvPr/>
        </p:nvSpPr>
        <p:spPr>
          <a:xfrm>
            <a:off x="817854" y="4584032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After Lunch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“One more small change.“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DA3417D-D269-701F-C2E3-9CE581F1E24B}"/>
              </a:ext>
            </a:extLst>
          </p:cNvPr>
          <p:cNvSpPr txBox="1">
            <a:spLocks/>
          </p:cNvSpPr>
          <p:nvPr/>
        </p:nvSpPr>
        <p:spPr>
          <a:xfrm>
            <a:off x="5381124" y="4584032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Developers know that 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</a:rPr>
              <a:t>"small change"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 usually isn't small.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9234BA1-631F-512C-CA06-C2D4A6E729E3}"/>
              </a:ext>
            </a:extLst>
          </p:cNvPr>
          <p:cNvSpPr txBox="1">
            <a:spLocks/>
          </p:cNvSpPr>
          <p:nvPr/>
        </p:nvSpPr>
        <p:spPr>
          <a:xfrm>
            <a:off x="7477130" y="4952481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Your software has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Add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Display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Search student</a:t>
            </a:r>
          </a:p>
          <a:p>
            <a:pPr marL="720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Delete student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41D9A2-E6A0-DFAE-20B8-45830C22F186}"/>
              </a:ext>
            </a:extLst>
          </p:cNvPr>
          <p:cNvSpPr txBox="1">
            <a:spLocks/>
          </p:cNvSpPr>
          <p:nvPr/>
        </p:nvSpPr>
        <p:spPr>
          <a:xfrm>
            <a:off x="753978" y="5341028"/>
            <a:ext cx="5871411" cy="505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“Please add </a:t>
            </a:r>
            <a:r>
              <a:rPr lang="en-IN" b="1" dirty="0">
                <a:solidFill>
                  <a:srgbClr val="002060"/>
                </a:solidFill>
              </a:rPr>
              <a:t>Delete Student</a:t>
            </a:r>
            <a:r>
              <a:rPr lang="en-IN" dirty="0">
                <a:solidFill>
                  <a:srgbClr val="002060"/>
                </a:solidFill>
              </a:rPr>
              <a:t>."</a:t>
            </a:r>
          </a:p>
        </p:txBody>
      </p:sp>
      <p:pic>
        <p:nvPicPr>
          <p:cNvPr id="11" name="Picture 10" descr="Software engineer - Free computer icons">
            <a:extLst>
              <a:ext uri="{FF2B5EF4-FFF2-40B4-BE49-F238E27FC236}">
                <a16:creationId xmlns:a16="http://schemas.microsoft.com/office/drawing/2014/main" id="{7A120790-57C2-B848-A0E0-16D3AED2A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459" y="771082"/>
            <a:ext cx="1289938" cy="1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6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15" grpId="0"/>
      <p:bldP spid="17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C3A15-78EC-F101-DA42-CBE9B20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E48A-32DA-28D8-B62B-BC8B75C1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A31D5-04CD-2E8C-3ADB-BB4771E13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8" y="2273968"/>
            <a:ext cx="5871411" cy="3531213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Next Morning…..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“I checked the software."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"I don't like the latest version."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>
              <a:solidFill>
                <a:srgbClr val="00206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rgbClr val="002060"/>
                </a:solidFill>
              </a:rPr>
              <a:t>"Can you please give me the version where there was </a:t>
            </a:r>
            <a:r>
              <a:rPr lang="en-IN" b="1" dirty="0">
                <a:solidFill>
                  <a:srgbClr val="002060"/>
                </a:solidFill>
              </a:rPr>
              <a:t>Display Student</a:t>
            </a:r>
            <a:r>
              <a:rPr lang="en-IN" dirty="0">
                <a:solidFill>
                  <a:srgbClr val="002060"/>
                </a:solidFill>
              </a:rPr>
              <a:t>, but </a:t>
            </a:r>
            <a:r>
              <a:rPr lang="en-IN" b="1" dirty="0">
                <a:solidFill>
                  <a:srgbClr val="002060"/>
                </a:solidFill>
              </a:rPr>
              <a:t>Delete Student</a:t>
            </a:r>
            <a:r>
              <a:rPr lang="en-IN" dirty="0">
                <a:solidFill>
                  <a:srgbClr val="002060"/>
                </a:solidFill>
              </a:rPr>
              <a:t> wasn't added yet?"</a:t>
            </a:r>
          </a:p>
        </p:txBody>
      </p:sp>
      <p:pic>
        <p:nvPicPr>
          <p:cNvPr id="4" name="Picture 3" descr="Download Free Client Icons in PNG &amp; SVG | Magnific (formerly ...">
            <a:extLst>
              <a:ext uri="{FF2B5EF4-FFF2-40B4-BE49-F238E27FC236}">
                <a16:creationId xmlns:a16="http://schemas.microsoft.com/office/drawing/2014/main" id="{366F2BD5-AE8E-1344-4528-81D7D1575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45" y="711201"/>
            <a:ext cx="1409700" cy="14097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56A07-9E60-3801-A965-CE9E70699416}"/>
              </a:ext>
            </a:extLst>
          </p:cNvPr>
          <p:cNvSpPr txBox="1">
            <a:spLocks/>
          </p:cNvSpPr>
          <p:nvPr/>
        </p:nvSpPr>
        <p:spPr>
          <a:xfrm>
            <a:off x="6753142" y="2628398"/>
            <a:ext cx="4499393" cy="1601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You open your folder.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There is only one file.</a:t>
            </a: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>
                <a:latin typeface="Consolas" panose="020B0609020204030204" pitchFamily="49" charset="0"/>
              </a:rPr>
              <a:t>	</a:t>
            </a:r>
            <a:r>
              <a:rPr lang="en-IN" sz="2000" dirty="0" err="1">
                <a:latin typeface="Consolas" panose="020B0609020204030204" pitchFamily="49" charset="0"/>
              </a:rPr>
              <a:t>StudentManagement</a:t>
            </a:r>
            <a:r>
              <a:rPr lang="en-IN" sz="2000" dirty="0">
                <a:latin typeface="Consolas" panose="020B0609020204030204" pitchFamily="49" charset="0"/>
              </a:rPr>
              <a:t>/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000" dirty="0">
                <a:latin typeface="Consolas" panose="020B0609020204030204" pitchFamily="49" charset="0"/>
              </a:rPr>
              <a:t>		</a:t>
            </a:r>
            <a:r>
              <a:rPr lang="en-IN" sz="2000" dirty="0" err="1">
                <a:latin typeface="Consolas" panose="020B0609020204030204" pitchFamily="49" charset="0"/>
              </a:rPr>
              <a:t>main.c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The old code has already been overwritten.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You start sweating.</a:t>
            </a:r>
            <a:r>
              <a:rPr lang="en-IN" dirty="0"/>
              <a:t> 😅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355304-D625-0C93-F99E-C7B058EE9CC5}"/>
              </a:ext>
            </a:extLst>
          </p:cNvPr>
          <p:cNvCxnSpPr>
            <a:cxnSpLocks/>
          </p:cNvCxnSpPr>
          <p:nvPr/>
        </p:nvCxnSpPr>
        <p:spPr>
          <a:xfrm>
            <a:off x="753979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898F3A-6548-0CEA-F79F-0FF3FDD49D4D}"/>
              </a:ext>
            </a:extLst>
          </p:cNvPr>
          <p:cNvCxnSpPr>
            <a:cxnSpLocks/>
          </p:cNvCxnSpPr>
          <p:nvPr/>
        </p:nvCxnSpPr>
        <p:spPr>
          <a:xfrm>
            <a:off x="11252535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oftware engineer - Free computer icons">
            <a:extLst>
              <a:ext uri="{FF2B5EF4-FFF2-40B4-BE49-F238E27FC236}">
                <a16:creationId xmlns:a16="http://schemas.microsoft.com/office/drawing/2014/main" id="{DA71595E-DE16-91E8-67DC-223BF5FA4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9459" y="771082"/>
            <a:ext cx="1289938" cy="1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37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EFD5-A372-6025-AF6A-E833691BE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9053-9B8B-5B58-DEA8-50EB3EF4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23EF8-0E4F-6868-637D-B6AC8FFEF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5488" y="5442689"/>
            <a:ext cx="8853027" cy="947391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IN" b="1" dirty="0">
                <a:solidFill>
                  <a:srgbClr val="00B050"/>
                </a:solidFill>
              </a:rPr>
              <a:t>“No. Once the file has been saved multiple times, the earlier versions are gone unless you kept separate copies."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78B2DC-6375-8EEE-A82B-D2B09967C718}"/>
              </a:ext>
            </a:extLst>
          </p:cNvPr>
          <p:cNvSpPr txBox="1">
            <a:spLocks/>
          </p:cNvSpPr>
          <p:nvPr/>
        </p:nvSpPr>
        <p:spPr>
          <a:xfrm>
            <a:off x="6753142" y="2628398"/>
            <a:ext cx="4499393" cy="1601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"Can I recover that old version?“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IN" i="1" dirty="0">
                <a:solidFill>
                  <a:srgbClr val="EA4335"/>
                </a:solidFill>
              </a:rPr>
              <a:t>Ctrl + Z?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i="1" dirty="0">
                <a:solidFill>
                  <a:srgbClr val="EA4335"/>
                </a:solidFill>
              </a:rPr>
              <a:t>Recycle Bin?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i="1" dirty="0">
                <a:solidFill>
                  <a:srgbClr val="EA4335"/>
                </a:solidFill>
              </a:rPr>
              <a:t>Undo?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i="1" dirty="0">
                <a:solidFill>
                  <a:srgbClr val="EA4335"/>
                </a:solidFill>
              </a:rPr>
              <a:t>Restore Previous Version?</a:t>
            </a:r>
          </a:p>
          <a:p>
            <a:pPr marL="0" indent="0">
              <a:spcBef>
                <a:spcPts val="0"/>
              </a:spcBef>
              <a:buNone/>
            </a:pPr>
            <a:endParaRPr lang="en-IN" i="1" dirty="0">
              <a:solidFill>
                <a:srgbClr val="EA4335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en-IN" i="1" dirty="0">
              <a:solidFill>
                <a:srgbClr val="EA4335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B70553-BC78-F007-F5E7-98192BAB7951}"/>
              </a:ext>
            </a:extLst>
          </p:cNvPr>
          <p:cNvCxnSpPr>
            <a:cxnSpLocks/>
          </p:cNvCxnSpPr>
          <p:nvPr/>
        </p:nvCxnSpPr>
        <p:spPr>
          <a:xfrm>
            <a:off x="11252535" y="2273969"/>
            <a:ext cx="0" cy="40065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oftware engineer - Free computer icons">
            <a:extLst>
              <a:ext uri="{FF2B5EF4-FFF2-40B4-BE49-F238E27FC236}">
                <a16:creationId xmlns:a16="http://schemas.microsoft.com/office/drawing/2014/main" id="{FBC2D6B7-BEF9-8B52-9B65-37C1BDCE9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9459" y="771082"/>
            <a:ext cx="1289938" cy="128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54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B7D54-F840-4902-CCE0-BC1E67C0E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9C37-2D13-748D-0D42-BAD4E6F61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US" dirty="0"/>
              <a:t>Story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AA9BE2-5960-7C01-D1D6-3FA64EAB7550}"/>
              </a:ext>
            </a:extLst>
          </p:cNvPr>
          <p:cNvSpPr txBox="1">
            <a:spLocks/>
          </p:cNvSpPr>
          <p:nvPr/>
        </p:nvSpPr>
        <p:spPr>
          <a:xfrm>
            <a:off x="318782" y="1051755"/>
            <a:ext cx="6652459" cy="47544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IN" dirty="0"/>
              <a:t>“What Beginners Usually Do”</a:t>
            </a:r>
          </a:p>
          <a:p>
            <a:pPr marL="0" indent="0">
              <a:spcBef>
                <a:spcPts val="0"/>
              </a:spcBef>
              <a:buNone/>
            </a:pPr>
            <a:endParaRPr lang="en-IN" dirty="0"/>
          </a:p>
          <a:p>
            <a:pPr marL="0" indent="0">
              <a:spcBef>
                <a:spcPts val="0"/>
              </a:spcBef>
              <a:buNone/>
            </a:pPr>
            <a:r>
              <a:rPr lang="en-IN" dirty="0"/>
              <a:t>Developers start creating files like:</a:t>
            </a:r>
          </a:p>
          <a:p>
            <a:pPr marL="0" indent="0">
              <a:spcBef>
                <a:spcPts val="0"/>
              </a:spcBef>
              <a:buNone/>
            </a:pP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main_new.c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main_latest.c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main_final.c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/>
              <a:t>main_final2.c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main_final_last.c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US" i="1" dirty="0" err="1"/>
              <a:t>main_final_last_really_final.c</a:t>
            </a: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endParaRPr lang="en-US" i="1" dirty="0"/>
          </a:p>
          <a:p>
            <a:pPr marL="0" indent="0">
              <a:spcBef>
                <a:spcPts val="0"/>
              </a:spcBef>
              <a:buNone/>
            </a:pPr>
            <a:r>
              <a:rPr lang="en-IN" sz="2000" i="1" dirty="0">
                <a:solidFill>
                  <a:srgbClr val="FF0000"/>
                </a:solidFill>
              </a:rPr>
              <a:t>‘Which file contains the version with Display Student?’</a:t>
            </a:r>
            <a:endParaRPr lang="en-I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9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656B4-E2D1-3AE3-2001-85C7342B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F856-276F-E8CB-4F2E-B1A97F2B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What is Version Control?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B9579-5BE5-5F53-BE11-F6ADEE358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11413958" cy="5591175"/>
          </a:xfrm>
        </p:spPr>
        <p:txBody>
          <a:bodyPr/>
          <a:lstStyle/>
          <a:p>
            <a:r>
              <a:rPr lang="en-IN" b="1" dirty="0"/>
              <a:t>Version Control System (VCS)</a:t>
            </a:r>
            <a:r>
              <a:rPr lang="en-IN" dirty="0"/>
              <a:t> is a tool that records changes to files over time.</a:t>
            </a:r>
          </a:p>
          <a:p>
            <a:endParaRPr lang="en-IN" dirty="0"/>
          </a:p>
          <a:p>
            <a:r>
              <a:rPr lang="en-IN" dirty="0"/>
              <a:t>Benefits:</a:t>
            </a:r>
          </a:p>
          <a:p>
            <a:pPr lvl="1"/>
            <a:r>
              <a:rPr lang="en-IN" dirty="0"/>
              <a:t>Tracks changes</a:t>
            </a:r>
          </a:p>
          <a:p>
            <a:pPr lvl="1"/>
            <a:r>
              <a:rPr lang="en-IN" dirty="0"/>
              <a:t>Maintains history</a:t>
            </a:r>
          </a:p>
          <a:p>
            <a:pPr lvl="1"/>
            <a:r>
              <a:rPr lang="en-IN" dirty="0"/>
              <a:t>Supports collaboration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Allows rollback to previous versions</a:t>
            </a:r>
          </a:p>
          <a:p>
            <a:pPr lvl="1"/>
            <a:r>
              <a:rPr lang="en-IN" dirty="0"/>
              <a:t>Prevents accidental data loss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Version 1 → Version 2 → Version 3 → Version 4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190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DE01E-796A-4D67-1F8D-BB6301938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FE73-02BF-57D2-0F7D-58D491EA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Problems Without 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00F57-C580-DDE7-E966-E73648BFA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11413958" cy="559117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Traditional Approach</a:t>
            </a:r>
          </a:p>
          <a:p>
            <a:r>
              <a:rPr lang="en-IN" dirty="0"/>
              <a:t>Project Files:</a:t>
            </a:r>
          </a:p>
          <a:p>
            <a:pPr lvl="1"/>
            <a:r>
              <a:rPr lang="en-IN" dirty="0"/>
              <a:t>Project_Final.docx </a:t>
            </a:r>
          </a:p>
          <a:p>
            <a:pPr lvl="1"/>
            <a:r>
              <a:rPr lang="en-IN" dirty="0"/>
              <a:t>Project_Final_v2.docx </a:t>
            </a:r>
          </a:p>
          <a:p>
            <a:pPr lvl="1"/>
            <a:r>
              <a:rPr lang="en-IN" dirty="0"/>
              <a:t>Project_Final_v2_Final.docx </a:t>
            </a:r>
          </a:p>
          <a:p>
            <a:pPr lvl="1"/>
            <a:r>
              <a:rPr lang="en-IN" dirty="0"/>
              <a:t>Project_Final_v2_Final_Updated.docx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Challenges:</a:t>
            </a:r>
          </a:p>
          <a:p>
            <a:pPr lvl="1"/>
            <a:r>
              <a:rPr lang="en-IN" dirty="0"/>
              <a:t>Confusion </a:t>
            </a:r>
          </a:p>
          <a:p>
            <a:pPr lvl="1"/>
            <a:r>
              <a:rPr lang="en-IN" dirty="0"/>
              <a:t>Duplicate files </a:t>
            </a:r>
          </a:p>
          <a:p>
            <a:pPr lvl="1"/>
            <a:r>
              <a:rPr lang="en-IN" dirty="0"/>
              <a:t>Difficult rollback </a:t>
            </a:r>
          </a:p>
          <a:p>
            <a:pPr lvl="1"/>
            <a:r>
              <a:rPr lang="en-IN" dirty="0"/>
              <a:t>No change history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66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34A2-77FE-B119-9D1D-713B33B0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4775-5517-C9B9-775F-B90EC23E8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What is Git?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618B-30AD-0775-489E-E170951B6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11413958" cy="559117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Traditional Approach</a:t>
            </a:r>
          </a:p>
          <a:p>
            <a:r>
              <a:rPr lang="en-IN" b="1" dirty="0"/>
              <a:t>Git</a:t>
            </a:r>
            <a:r>
              <a:rPr lang="en-IN" dirty="0"/>
              <a:t> is a distributed version control system created by Linus Torvalds in 2005.</a:t>
            </a:r>
          </a:p>
          <a:p>
            <a:endParaRPr lang="en-IN" dirty="0"/>
          </a:p>
          <a:p>
            <a:r>
              <a:rPr lang="en-IN" b="1" dirty="0"/>
              <a:t>Features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Fast and lightweight </a:t>
            </a:r>
          </a:p>
          <a:p>
            <a:pPr lvl="1"/>
            <a:r>
              <a:rPr lang="en-IN" dirty="0"/>
              <a:t>Distributed architecture</a:t>
            </a:r>
          </a:p>
          <a:p>
            <a:pPr lvl="1"/>
            <a:r>
              <a:rPr lang="en-IN" dirty="0"/>
              <a:t>Tracks file changes</a:t>
            </a:r>
          </a:p>
          <a:p>
            <a:pPr lvl="1"/>
            <a:r>
              <a:rPr lang="en-IN" dirty="0"/>
              <a:t>Supports branching and merging</a:t>
            </a:r>
          </a:p>
          <a:p>
            <a:pPr lvl="1"/>
            <a:r>
              <a:rPr lang="en-IN" dirty="0"/>
              <a:t>Widely used in DevOps and software development</a:t>
            </a:r>
          </a:p>
          <a:p>
            <a:pPr marL="457200" lvl="1" indent="0">
              <a:buNone/>
            </a:pP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8932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22B8-C489-BEFB-B010-21C69E37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1996-F4F6-1842-A6F8-4693A8CE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Why Git is Important?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E7C4-913B-DB96-4A37-33C7218E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11413958" cy="5591175"/>
          </a:xfrm>
        </p:spPr>
        <p:txBody>
          <a:bodyPr/>
          <a:lstStyle/>
          <a:p>
            <a:r>
              <a:rPr lang="en-IN" b="1" dirty="0"/>
              <a:t>Advantages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Change tracking</a:t>
            </a:r>
          </a:p>
          <a:p>
            <a:pPr lvl="1"/>
            <a:r>
              <a:rPr lang="en-IN" dirty="0"/>
              <a:t>Collaboration support</a:t>
            </a:r>
          </a:p>
          <a:p>
            <a:pPr lvl="1"/>
            <a:r>
              <a:rPr lang="en-IN" dirty="0"/>
              <a:t>Backup of project history</a:t>
            </a:r>
          </a:p>
          <a:p>
            <a:pPr lvl="1"/>
            <a:r>
              <a:rPr lang="en-IN" dirty="0"/>
              <a:t>Easy rollback</a:t>
            </a:r>
          </a:p>
          <a:p>
            <a:pPr lvl="1"/>
            <a:r>
              <a:rPr lang="en-IN" dirty="0"/>
              <a:t>Branching and experimentation</a:t>
            </a:r>
          </a:p>
          <a:p>
            <a:pPr lvl="1"/>
            <a:r>
              <a:rPr lang="en-IN" dirty="0"/>
              <a:t>Industry standard tool</a:t>
            </a:r>
          </a:p>
          <a:p>
            <a:pPr marL="457200" lvl="1" indent="0">
              <a:buNone/>
            </a:pP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2378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6DC1-D7FC-F9BF-CD86-F3CD3323D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8F02-102A-D8A8-A35C-E4C6FC6F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Git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B96D9-3F7F-2D7B-32B2-CE5180EE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11413958" cy="559117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Working Directory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Staging Area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Local Repository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Working Directory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Staging Area (Index)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Local Repository (.git)</a:t>
            </a:r>
          </a:p>
          <a:p>
            <a:endParaRPr lang="en-IN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C763833-BDF8-78C5-B20C-0F155BC26B66}"/>
              </a:ext>
            </a:extLst>
          </p:cNvPr>
          <p:cNvSpPr/>
          <p:nvPr/>
        </p:nvSpPr>
        <p:spPr>
          <a:xfrm>
            <a:off x="6006517" y="1266737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E227A40-DDEB-C423-6270-391C94945EE6}"/>
              </a:ext>
            </a:extLst>
          </p:cNvPr>
          <p:cNvSpPr/>
          <p:nvPr/>
        </p:nvSpPr>
        <p:spPr>
          <a:xfrm>
            <a:off x="6006517" y="2089324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8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2ED2-82B6-DF4B-328A-4576A4726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0017-A712-F3FA-A888-2C6B3A06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Git Local Workflow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AF262-0A76-00B3-8F15-1EC3428DC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3600"/>
            <a:ext cx="6824444" cy="559117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Create/Edit File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git add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Staging Area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git commit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Local Repository</a:t>
            </a:r>
          </a:p>
          <a:p>
            <a:endParaRPr lang="en-IN" b="1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0FFA733-4AB2-A080-DF7A-1EB989D6193E}"/>
              </a:ext>
            </a:extLst>
          </p:cNvPr>
          <p:cNvSpPr/>
          <p:nvPr/>
        </p:nvSpPr>
        <p:spPr>
          <a:xfrm>
            <a:off x="3775043" y="1266737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DACC9286-6674-C9AC-DE2A-99A444761A7F}"/>
              </a:ext>
            </a:extLst>
          </p:cNvPr>
          <p:cNvSpPr/>
          <p:nvPr/>
        </p:nvSpPr>
        <p:spPr>
          <a:xfrm>
            <a:off x="3775043" y="2089324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802ABB35-0FEA-B863-38A6-18D6A790A330}"/>
              </a:ext>
            </a:extLst>
          </p:cNvPr>
          <p:cNvSpPr/>
          <p:nvPr/>
        </p:nvSpPr>
        <p:spPr>
          <a:xfrm>
            <a:off x="3775043" y="2870432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BEED78A5-69E9-EE81-65C6-7A42DAB1770C}"/>
              </a:ext>
            </a:extLst>
          </p:cNvPr>
          <p:cNvSpPr/>
          <p:nvPr/>
        </p:nvSpPr>
        <p:spPr>
          <a:xfrm>
            <a:off x="3775043" y="3793688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F7773CF-6375-FBAC-D91E-DFCDD6BDB6B6}"/>
              </a:ext>
            </a:extLst>
          </p:cNvPr>
          <p:cNvSpPr txBox="1">
            <a:spLocks/>
          </p:cNvSpPr>
          <p:nvPr/>
        </p:nvSpPr>
        <p:spPr>
          <a:xfrm>
            <a:off x="6518246" y="3811587"/>
            <a:ext cx="4355284" cy="2706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panose="05040102010807070707" pitchFamily="18" charset="2"/>
              <a:buNone/>
            </a:pPr>
            <a:r>
              <a:rPr lang="en-IN" b="1" dirty="0"/>
              <a:t>Workflow Steps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Create or modify files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Stage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Commit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View history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5903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314AF-18D1-8CD3-0FC4-20257423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67E14-4320-EF74-F2EC-37313579F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Installing Git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28155F-6605-DF49-7BAC-D67B9A68CFB6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11450972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hlinkClick r:id="rId2"/>
              </a:rPr>
              <a:t>https://git-scm.com/install/windows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Verify Installation</a:t>
            </a:r>
          </a:p>
          <a:p>
            <a:pPr marL="0" indent="0">
              <a:buNone/>
            </a:pPr>
            <a:r>
              <a:rPr lang="en-IN" b="1" dirty="0"/>
              <a:t>	git --version</a:t>
            </a:r>
          </a:p>
          <a:p>
            <a:pPr marL="0" indent="0">
              <a:buNone/>
            </a:pPr>
            <a:r>
              <a:rPr lang="en-IN" dirty="0"/>
              <a:t>	git version 2.55.0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5ACFE-A0BC-E89B-0BBA-6B14E51CD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49" y="1275923"/>
            <a:ext cx="8485240" cy="430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4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6D2A-DC82-EE85-7777-41CD0A8CD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A767-C853-F019-977D-3C6CD59C9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Initial Git Configuration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87E3C5-862C-E60B-79E1-76FCFA6347DD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11450972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Initial Git Configuration</a:t>
            </a:r>
          </a:p>
          <a:p>
            <a:r>
              <a:rPr lang="en-IN" dirty="0"/>
              <a:t>Configure Username</a:t>
            </a:r>
          </a:p>
          <a:p>
            <a:pPr marL="0" indent="0">
              <a:buNone/>
            </a:pPr>
            <a:r>
              <a:rPr lang="nn-NO" dirty="0"/>
              <a:t>	git config --global user.name </a:t>
            </a:r>
            <a:r>
              <a:rPr lang="en-IN" dirty="0"/>
              <a:t>“</a:t>
            </a:r>
            <a:r>
              <a:rPr lang="nn-NO" dirty="0"/>
              <a:t>Samir Kariya</a:t>
            </a:r>
            <a:r>
              <a:rPr lang="en-IN" dirty="0"/>
              <a:t>”</a:t>
            </a:r>
            <a:endParaRPr lang="nn-NO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Configure Email</a:t>
            </a:r>
          </a:p>
          <a:p>
            <a:pPr marL="0" indent="0">
              <a:buNone/>
            </a:pPr>
            <a:r>
              <a:rPr lang="en-IN" dirty="0"/>
              <a:t>	git config --global </a:t>
            </a:r>
            <a:r>
              <a:rPr lang="en-IN" dirty="0" err="1"/>
              <a:t>user.email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“samirkariya@gmail.com</a:t>
            </a:r>
            <a:r>
              <a:rPr lang="en-IN" dirty="0"/>
              <a:t>”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Verify Configuration</a:t>
            </a:r>
          </a:p>
          <a:p>
            <a:pPr marL="0" indent="0">
              <a:buNone/>
            </a:pPr>
            <a:r>
              <a:rPr lang="en-IN" dirty="0"/>
              <a:t>	git config --list</a:t>
            </a:r>
          </a:p>
        </p:txBody>
      </p:sp>
    </p:spTree>
    <p:extLst>
      <p:ext uri="{BB962C8B-B14F-4D97-AF65-F5344CB8AC3E}">
        <p14:creationId xmlns:p14="http://schemas.microsoft.com/office/powerpoint/2010/main" val="351440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3A8A-3A35-925D-F0E1-E72086C4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08F3-170E-08D0-6D87-B22F5023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a Git Repository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223F862-26AE-E17E-2B48-7D43F93B51A7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11450972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Create Project Folder</a:t>
            </a:r>
          </a:p>
          <a:p>
            <a:endParaRPr lang="en-IN" dirty="0"/>
          </a:p>
          <a:p>
            <a:r>
              <a:rPr lang="en-IN" dirty="0"/>
              <a:t>Initialize Git</a:t>
            </a:r>
          </a:p>
          <a:p>
            <a:pPr marL="457200" lvl="1" indent="0">
              <a:buNone/>
            </a:pPr>
            <a:r>
              <a:rPr lang="en-IN" dirty="0"/>
              <a:t>	git </a:t>
            </a:r>
            <a:r>
              <a:rPr lang="en-IN" dirty="0" err="1"/>
              <a:t>init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Git creates:</a:t>
            </a:r>
          </a:p>
          <a:p>
            <a:pPr marL="457200" lvl="1" indent="0">
              <a:buNone/>
            </a:pPr>
            <a:r>
              <a:rPr lang="en-IN" dirty="0"/>
              <a:t>	.git /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Contains: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Commit history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Branch information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Configuration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Metadata</a:t>
            </a:r>
          </a:p>
          <a:p>
            <a:pPr marL="457200" lvl="1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48912-2BE8-F1C3-BE46-DE7EC9912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21" y="3137486"/>
            <a:ext cx="8279671" cy="196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7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647DE-513D-37E3-2989-233160B4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B62A-EAA6-35D2-1621-8FA02C3D0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a Git Repository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05717C5-C71E-E20F-B606-46B20759B834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11450972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Checking Repository Status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000" b="1" dirty="0"/>
              <a:t>git status</a:t>
            </a:r>
          </a:p>
          <a:p>
            <a:pPr marL="0" indent="0">
              <a:buNone/>
            </a:pPr>
            <a:r>
              <a:rPr lang="en-IN" dirty="0"/>
              <a:t>	//purpose to show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sz="2000" dirty="0"/>
              <a:t>modified files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sz="2000" dirty="0"/>
              <a:t>staged files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IN" sz="2000" dirty="0"/>
              <a:t>untracked files</a:t>
            </a:r>
          </a:p>
          <a:p>
            <a:pPr marL="1371600" lvl="3" indent="0">
              <a:buNone/>
            </a:pPr>
            <a:r>
              <a:rPr lang="en-IN" dirty="0"/>
              <a:t>	</a:t>
            </a:r>
          </a:p>
          <a:p>
            <a:r>
              <a:rPr lang="en-IN" dirty="0"/>
              <a:t>Creating First File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000" dirty="0"/>
              <a:t>index.txt</a:t>
            </a:r>
          </a:p>
          <a:p>
            <a:r>
              <a:rPr lang="en-IN" dirty="0"/>
              <a:t>Check status</a:t>
            </a:r>
          </a:p>
          <a:p>
            <a:pPr marL="457200" lvl="1" indent="0">
              <a:buNone/>
            </a:pPr>
            <a:r>
              <a:rPr lang="en-IN" dirty="0"/>
              <a:t>		git status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FDE6D-7764-03C6-C49A-9DC22955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072" y="917384"/>
            <a:ext cx="6976159" cy="2445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D75459-BB25-457B-9609-9AD73C631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19" y="3569283"/>
            <a:ext cx="7284158" cy="284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09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DB21-20CB-A8BE-8371-8A218F0F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FE84-8AA3-A934-8EB2-564C2889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a Git Repository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DA5FD83-7554-C52A-95F8-7ACF43866A70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4667156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Staging Changes </a:t>
            </a:r>
          </a:p>
          <a:p>
            <a:pPr lvl="1"/>
            <a:r>
              <a:rPr lang="en-IN" dirty="0"/>
              <a:t>Add single file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dirty="0"/>
              <a:t>git add index.txt</a:t>
            </a:r>
          </a:p>
          <a:p>
            <a:pPr lvl="1"/>
            <a:r>
              <a:rPr lang="en-IN" dirty="0"/>
              <a:t>Add all files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dirty="0"/>
              <a:t>git add .</a:t>
            </a:r>
          </a:p>
          <a:p>
            <a:pPr lvl="1"/>
            <a:endParaRPr lang="en-IN" dirty="0"/>
          </a:p>
          <a:p>
            <a:endParaRPr lang="en-IN" dirty="0"/>
          </a:p>
          <a:p>
            <a:pPr lvl="1"/>
            <a:r>
              <a:rPr lang="en-IN" dirty="0"/>
              <a:t>After Staging, Checking Repository Status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000" b="1" dirty="0"/>
              <a:t>git status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i="1" dirty="0"/>
              <a:t>//purpose:</a:t>
            </a:r>
            <a:r>
              <a:rPr lang="en-IN" i="1" dirty="0"/>
              <a:t> </a:t>
            </a:r>
          </a:p>
          <a:p>
            <a:pPr marL="457200" lvl="1" indent="0">
              <a:buNone/>
            </a:pPr>
            <a:r>
              <a:rPr lang="en-IN" dirty="0"/>
              <a:t>Moves files from Working Directory to Staging Area.</a:t>
            </a:r>
            <a:endParaRPr lang="en-IN" b="1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49DFFB-C391-4839-2575-1D2446EB9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679" y="4106342"/>
            <a:ext cx="5311949" cy="25533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2CBE5A-FAFC-E9CB-51CC-5AA67C1EB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97" y="841690"/>
            <a:ext cx="6982799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7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97AA-1414-2A35-3E0B-074855E5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3F22-0BCD-2CAE-EB98-4972A47A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Creating First Commit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52AA65-F718-75F2-8C05-6D2147924D9F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4667156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Commit Changes 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US" b="1" dirty="0"/>
              <a:t>git commit -m "Initial commit"</a:t>
            </a:r>
            <a:endParaRPr lang="en-IN" b="1" dirty="0"/>
          </a:p>
          <a:p>
            <a:pPr marL="457200" lvl="1" indent="0">
              <a:buNone/>
            </a:pPr>
            <a:endParaRPr lang="en-IN" dirty="0"/>
          </a:p>
          <a:p>
            <a:endParaRPr lang="en-IN" dirty="0"/>
          </a:p>
          <a:p>
            <a:pPr lvl="1"/>
            <a:r>
              <a:rPr lang="en-IN" dirty="0"/>
              <a:t>After Commit, Checking Repository Status</a:t>
            </a:r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sz="2000" b="1" dirty="0"/>
              <a:t>git status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i="1" dirty="0"/>
              <a:t>//purpose:</a:t>
            </a:r>
            <a:r>
              <a:rPr lang="en-IN" i="1" dirty="0"/>
              <a:t> </a:t>
            </a:r>
          </a:p>
          <a:p>
            <a:pPr marL="457200" lvl="1" indent="0">
              <a:buNone/>
            </a:pPr>
            <a:r>
              <a:rPr lang="en-IN" dirty="0"/>
              <a:t>Saves a snapshot of the project.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r>
              <a:rPr lang="en-IN" b="1" dirty="0"/>
              <a:t>//Best Practice:</a:t>
            </a:r>
          </a:p>
          <a:p>
            <a:pPr marL="457200" lvl="1" indent="0">
              <a:buNone/>
            </a:pPr>
            <a:r>
              <a:rPr lang="en-IN" dirty="0"/>
              <a:t>Use meaningful commit messages.</a:t>
            </a:r>
          </a:p>
          <a:p>
            <a:pPr marL="457200" lvl="1" indent="0">
              <a:buNone/>
            </a:pPr>
            <a:endParaRPr lang="en-IN" b="1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56E57-8DE3-4FD5-D96F-062805EB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59438"/>
            <a:ext cx="6030167" cy="32675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B2F9F5-E8FA-6A8A-654F-F16957A80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140" y="4443989"/>
            <a:ext cx="5966977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6ED2-576B-FF24-7E09-C6134B65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F03C-0DF4-E67D-F038-3C4694C8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Viewing Commit History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5CBB64B-07DC-2545-DD02-D5773F73463B}"/>
              </a:ext>
            </a:extLst>
          </p:cNvPr>
          <p:cNvSpPr txBox="1">
            <a:spLocks/>
          </p:cNvSpPr>
          <p:nvPr/>
        </p:nvSpPr>
        <p:spPr>
          <a:xfrm>
            <a:off x="377505" y="917384"/>
            <a:ext cx="4667156" cy="5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Tracking 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US" b="1" dirty="0"/>
              <a:t>git log</a:t>
            </a:r>
            <a:endParaRPr lang="en-IN" b="1" dirty="0"/>
          </a:p>
          <a:p>
            <a:pPr marL="0" indent="0">
              <a:buNone/>
            </a:pPr>
            <a:endParaRPr lang="en-IN" dirty="0"/>
          </a:p>
          <a:p>
            <a:pPr lvl="1"/>
            <a:r>
              <a:rPr lang="en-IN" dirty="0"/>
              <a:t>Shows:</a:t>
            </a:r>
          </a:p>
          <a:p>
            <a:pPr lvl="2"/>
            <a:r>
              <a:rPr lang="en-IN" dirty="0"/>
              <a:t>Commit ID (Hash)</a:t>
            </a:r>
          </a:p>
          <a:p>
            <a:pPr lvl="2"/>
            <a:r>
              <a:rPr lang="en-IN" dirty="0"/>
              <a:t>Author</a:t>
            </a:r>
          </a:p>
          <a:p>
            <a:pPr lvl="2"/>
            <a:r>
              <a:rPr lang="en-IN" dirty="0"/>
              <a:t>Date</a:t>
            </a:r>
          </a:p>
          <a:p>
            <a:pPr lvl="2"/>
            <a:r>
              <a:rPr lang="en-IN" dirty="0"/>
              <a:t>Message</a:t>
            </a:r>
          </a:p>
          <a:p>
            <a:pPr lvl="2"/>
            <a:endParaRPr lang="en-IN" dirty="0"/>
          </a:p>
          <a:p>
            <a:pPr lvl="1"/>
            <a:r>
              <a:rPr lang="en-IN" dirty="0"/>
              <a:t>Simplified log view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000" b="1" dirty="0"/>
              <a:t>git log --</a:t>
            </a:r>
            <a:r>
              <a:rPr lang="en-IN" sz="2000" b="1" dirty="0" err="1"/>
              <a:t>oneline</a:t>
            </a:r>
            <a:endParaRPr lang="en-IN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670EB7-7125-9F44-C206-79DB2B974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502" y="857954"/>
            <a:ext cx="6532850" cy="1616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4B9DDD-D1FA-278E-7FB5-2EF8457A0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317" y="4177439"/>
            <a:ext cx="6146096" cy="96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3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BB9F8-1F6C-68FD-9737-9B3DAEDC7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05DC-E55F-E4C7-AAF3-A0B121E7E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Understanding File States in Git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53743B7-F69E-4CBE-6B0A-DD33D22C0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5882" y="1032585"/>
            <a:ext cx="6824444" cy="5591175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/>
              <a:t>Untracked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git add</a:t>
            </a:r>
          </a:p>
          <a:p>
            <a:pPr marL="0" indent="0" algn="ctr"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Staged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git commit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 err="1"/>
              <a:t>Commited</a:t>
            </a:r>
            <a:endParaRPr lang="en-IN" dirty="0"/>
          </a:p>
          <a:p>
            <a:endParaRPr lang="en-IN" b="1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3E146D3-5CBD-87EE-2CF3-2BE68DC37F0C}"/>
              </a:ext>
            </a:extLst>
          </p:cNvPr>
          <p:cNvSpPr/>
          <p:nvPr/>
        </p:nvSpPr>
        <p:spPr>
          <a:xfrm>
            <a:off x="5083725" y="1435722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E0050F8-F25C-8DE9-9E2A-6DC623E1FA8B}"/>
              </a:ext>
            </a:extLst>
          </p:cNvPr>
          <p:cNvSpPr/>
          <p:nvPr/>
        </p:nvSpPr>
        <p:spPr>
          <a:xfrm>
            <a:off x="5083725" y="2258309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F8D20C07-C3AE-CF38-2F08-016E43BF1BCE}"/>
              </a:ext>
            </a:extLst>
          </p:cNvPr>
          <p:cNvSpPr/>
          <p:nvPr/>
        </p:nvSpPr>
        <p:spPr>
          <a:xfrm>
            <a:off x="5083725" y="3039417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EDCDA9C-3D2C-26B5-D9A9-FF13C4B110FA}"/>
              </a:ext>
            </a:extLst>
          </p:cNvPr>
          <p:cNvSpPr/>
          <p:nvPr/>
        </p:nvSpPr>
        <p:spPr>
          <a:xfrm>
            <a:off x="5083725" y="3962673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4A1EB5-3C5D-0EA5-80EA-F7821E4D5AF3}"/>
              </a:ext>
            </a:extLst>
          </p:cNvPr>
          <p:cNvSpPr txBox="1"/>
          <p:nvPr/>
        </p:nvSpPr>
        <p:spPr>
          <a:xfrm>
            <a:off x="941664" y="5146432"/>
            <a:ext cx="61281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Important Git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Untracked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Modified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Staged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Committed</a:t>
            </a:r>
          </a:p>
        </p:txBody>
      </p:sp>
    </p:spTree>
    <p:extLst>
      <p:ext uri="{BB962C8B-B14F-4D97-AF65-F5344CB8AC3E}">
        <p14:creationId xmlns:p14="http://schemas.microsoft.com/office/powerpoint/2010/main" val="223907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4" grpId="0" animBg="1"/>
      <p:bldP spid="15" grpId="0" animBg="1"/>
      <p:bldP spid="16" grpId="0" animBg="1"/>
      <p:bldP spid="17" grpId="0" animBg="1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F9C67-61ED-03B4-E3DB-BE8790046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A374E-ECBA-2D15-CECE-98767D4A0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Common Git Commands Summary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996090-CB93-6E05-B2C1-3AFEDC7B6797}"/>
              </a:ext>
            </a:extLst>
          </p:cNvPr>
          <p:cNvSpPr txBox="1"/>
          <p:nvPr/>
        </p:nvSpPr>
        <p:spPr>
          <a:xfrm>
            <a:off x="1187115" y="927768"/>
            <a:ext cx="7796463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Command			Purpose</a:t>
            </a:r>
          </a:p>
          <a:p>
            <a:endParaRPr lang="en-IN" sz="2000" dirty="0"/>
          </a:p>
          <a:p>
            <a:r>
              <a:rPr lang="en-IN" sz="2000" dirty="0"/>
              <a:t>git </a:t>
            </a:r>
            <a:r>
              <a:rPr lang="en-IN" sz="2000" dirty="0" err="1"/>
              <a:t>init</a:t>
            </a:r>
            <a:r>
              <a:rPr lang="en-IN" sz="2000" dirty="0"/>
              <a:t>				Initialize repository</a:t>
            </a:r>
          </a:p>
          <a:p>
            <a:endParaRPr lang="en-IN" sz="2000" dirty="0"/>
          </a:p>
          <a:p>
            <a:r>
              <a:rPr lang="en-IN" sz="2000" dirty="0"/>
              <a:t>git status			Check status</a:t>
            </a:r>
          </a:p>
          <a:p>
            <a:endParaRPr lang="en-IN" sz="2000" dirty="0"/>
          </a:p>
          <a:p>
            <a:r>
              <a:rPr lang="en-IN" sz="2000" dirty="0"/>
              <a:t>git add file			Stage file</a:t>
            </a:r>
          </a:p>
          <a:p>
            <a:endParaRPr lang="en-IN" sz="2000" dirty="0"/>
          </a:p>
          <a:p>
            <a:r>
              <a:rPr lang="en-IN" sz="2000" dirty="0"/>
              <a:t>git add .				Stage all files</a:t>
            </a:r>
          </a:p>
          <a:p>
            <a:endParaRPr lang="en-IN" sz="2000" dirty="0"/>
          </a:p>
          <a:p>
            <a:r>
              <a:rPr lang="en-IN" sz="2000" dirty="0"/>
              <a:t>git commit –m			Save snapshot</a:t>
            </a:r>
          </a:p>
          <a:p>
            <a:endParaRPr lang="en-IN" sz="2000" dirty="0"/>
          </a:p>
          <a:p>
            <a:r>
              <a:rPr lang="en-IN" sz="2000" dirty="0"/>
              <a:t>git log				View history</a:t>
            </a:r>
          </a:p>
          <a:p>
            <a:endParaRPr lang="en-IN" sz="2000" dirty="0"/>
          </a:p>
          <a:p>
            <a:r>
              <a:rPr lang="en-IN" sz="2000" dirty="0"/>
              <a:t>git log --</a:t>
            </a:r>
            <a:r>
              <a:rPr lang="en-IN" sz="2000" dirty="0" err="1"/>
              <a:t>oneline</a:t>
            </a:r>
            <a:r>
              <a:rPr lang="en-IN" sz="2000" dirty="0"/>
              <a:t>			Short history</a:t>
            </a:r>
          </a:p>
          <a:p>
            <a:endParaRPr lang="en-IN" sz="2000" dirty="0"/>
          </a:p>
          <a:p>
            <a:r>
              <a:rPr lang="en-IN" sz="2000" dirty="0"/>
              <a:t>git config --list			View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83930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8ED4-30E6-F87A-D01A-6862E61F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Mastering commits and undoing mistakes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70746-51F9-3C0F-5984-4732910F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F487E"/>
                </a:solidFill>
              </a:rPr>
              <a:t>Section - 2</a:t>
            </a:r>
          </a:p>
        </p:txBody>
      </p:sp>
    </p:spTree>
    <p:extLst>
      <p:ext uri="{BB962C8B-B14F-4D97-AF65-F5344CB8AC3E}">
        <p14:creationId xmlns:p14="http://schemas.microsoft.com/office/powerpoint/2010/main" val="147893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Commit?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commit</a:t>
            </a:r>
            <a:r>
              <a:rPr lang="en-IN" dirty="0"/>
              <a:t> is a saved snapshot of the project at a specific point in time.</a:t>
            </a:r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FBD0614-6038-ECCB-AD5A-22D2592182F9}"/>
              </a:ext>
            </a:extLst>
          </p:cNvPr>
          <p:cNvSpPr txBox="1">
            <a:spLocks/>
          </p:cNvSpPr>
          <p:nvPr/>
        </p:nvSpPr>
        <p:spPr>
          <a:xfrm>
            <a:off x="1765882" y="1569481"/>
            <a:ext cx="6824444" cy="5591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>Project state 1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COMMIT 1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/>
            </a:r>
            <a:br>
              <a:rPr lang="en-IN" dirty="0"/>
            </a:br>
            <a:r>
              <a:rPr lang="en-IN" dirty="0"/>
              <a:t>Project state 2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endParaRPr lang="en-IN" dirty="0"/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>COMMIT 2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endParaRPr lang="en-IN" dirty="0"/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>Project state 3</a:t>
            </a:r>
          </a:p>
          <a:p>
            <a:pPr marL="0" indent="0" algn="ctr">
              <a:buFont typeface="Wingdings 3" panose="05040102010807070707" pitchFamily="18" charset="2"/>
              <a:buNone/>
            </a:pPr>
            <a:endParaRPr lang="en-IN" dirty="0"/>
          </a:p>
          <a:p>
            <a:pPr marL="0" indent="0" algn="ctr">
              <a:buFont typeface="Wingdings 3" panose="05040102010807070707" pitchFamily="18" charset="2"/>
              <a:buNone/>
            </a:pPr>
            <a:r>
              <a:rPr lang="en-IN" dirty="0"/>
              <a:t>COMMIT 3</a:t>
            </a:r>
          </a:p>
          <a:p>
            <a:endParaRPr lang="en-IN" b="1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B1FF59D-419A-9EBE-D7C2-8DA1A8B73E8F}"/>
              </a:ext>
            </a:extLst>
          </p:cNvPr>
          <p:cNvSpPr/>
          <p:nvPr/>
        </p:nvSpPr>
        <p:spPr>
          <a:xfrm>
            <a:off x="5083725" y="1972618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7753C5C-6B38-6D3A-3678-BF5974CCA879}"/>
              </a:ext>
            </a:extLst>
          </p:cNvPr>
          <p:cNvSpPr/>
          <p:nvPr/>
        </p:nvSpPr>
        <p:spPr>
          <a:xfrm>
            <a:off x="5083725" y="2795205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D6EFA84-952C-B8E5-6552-200521A238C9}"/>
              </a:ext>
            </a:extLst>
          </p:cNvPr>
          <p:cNvSpPr/>
          <p:nvPr/>
        </p:nvSpPr>
        <p:spPr>
          <a:xfrm>
            <a:off x="5083725" y="3576313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E1F8A87-4C8B-C2C5-AA8A-2444B8F5EB96}"/>
              </a:ext>
            </a:extLst>
          </p:cNvPr>
          <p:cNvSpPr/>
          <p:nvPr/>
        </p:nvSpPr>
        <p:spPr>
          <a:xfrm>
            <a:off x="5083725" y="4499569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B85180D3-0CAB-9CAC-E682-14B0B6583F80}"/>
              </a:ext>
            </a:extLst>
          </p:cNvPr>
          <p:cNvSpPr/>
          <p:nvPr/>
        </p:nvSpPr>
        <p:spPr>
          <a:xfrm>
            <a:off x="5077436" y="5415331"/>
            <a:ext cx="201336" cy="4194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97443C-AE6F-4EAC-483D-563959BA6C9F}"/>
              </a:ext>
            </a:extLst>
          </p:cNvPr>
          <p:cNvSpPr txBox="1"/>
          <p:nvPr/>
        </p:nvSpPr>
        <p:spPr>
          <a:xfrm>
            <a:off x="7900330" y="1764153"/>
            <a:ext cx="400783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Important:</a:t>
            </a:r>
          </a:p>
          <a:p>
            <a:pPr>
              <a:buNone/>
            </a:pPr>
            <a:r>
              <a:rPr lang="en-IN" sz="2400" dirty="0"/>
              <a:t>A commit records: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What changed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Who made the 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When it was made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A unique commit 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1D019-E56D-3095-04AE-4B94B6F34D52}"/>
              </a:ext>
            </a:extLst>
          </p:cNvPr>
          <p:cNvSpPr txBox="1"/>
          <p:nvPr/>
        </p:nvSpPr>
        <p:spPr>
          <a:xfrm>
            <a:off x="8346587" y="4650571"/>
            <a:ext cx="3577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rgbClr val="00B050"/>
                </a:solidFill>
              </a:rPr>
              <a:t>Commit = Save Point of Your Project</a:t>
            </a:r>
          </a:p>
        </p:txBody>
      </p:sp>
    </p:spTree>
    <p:extLst>
      <p:ext uri="{BB962C8B-B14F-4D97-AF65-F5344CB8AC3E}">
        <p14:creationId xmlns:p14="http://schemas.microsoft.com/office/powerpoint/2010/main" val="137145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8F43-7E52-4DA2-C2C2-65CE3F04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83B0-62CD-A127-4823-22E7AC85B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Commit Messages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4BA05-897B-B0AE-1F24-7B41A6D6C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Bad Commit Messages ❌</a:t>
            </a:r>
          </a:p>
          <a:p>
            <a:pPr lvl="1"/>
            <a:r>
              <a:rPr lang="en-US" dirty="0"/>
              <a:t>update</a:t>
            </a:r>
          </a:p>
          <a:p>
            <a:pPr lvl="1"/>
            <a:r>
              <a:rPr lang="en-US" dirty="0"/>
              <a:t>changes</a:t>
            </a:r>
          </a:p>
          <a:p>
            <a:pPr lvl="1"/>
            <a:r>
              <a:rPr lang="en-US" dirty="0"/>
              <a:t>done</a:t>
            </a:r>
          </a:p>
          <a:p>
            <a:pPr lvl="1"/>
            <a:r>
              <a:rPr lang="en-US" dirty="0"/>
              <a:t>final</a:t>
            </a:r>
          </a:p>
          <a:p>
            <a:pPr lvl="1"/>
            <a:r>
              <a:rPr lang="en-US" dirty="0"/>
              <a:t>new</a:t>
            </a:r>
          </a:p>
          <a:p>
            <a:pPr lvl="1"/>
            <a:r>
              <a:rPr lang="en-US" dirty="0"/>
              <a:t>Fix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Good Commit Messages ✅</a:t>
            </a:r>
          </a:p>
          <a:p>
            <a:pPr lvl="1"/>
            <a:r>
              <a:rPr lang="en-US" dirty="0"/>
              <a:t>Added student registration form</a:t>
            </a:r>
          </a:p>
          <a:p>
            <a:pPr lvl="1"/>
            <a:r>
              <a:rPr lang="en-US" dirty="0"/>
              <a:t>Fixed login validation error</a:t>
            </a:r>
          </a:p>
          <a:p>
            <a:pPr lvl="1"/>
            <a:r>
              <a:rPr lang="en-US" dirty="0"/>
              <a:t>Updated database connection</a:t>
            </a:r>
          </a:p>
          <a:p>
            <a:pPr lvl="1"/>
            <a:r>
              <a:rPr lang="en-US" dirty="0"/>
              <a:t>Added even number calculation</a:t>
            </a:r>
            <a:endParaRPr lang="en-IN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C16F9-F4E8-A355-2AE5-27DAE455EB21}"/>
              </a:ext>
            </a:extLst>
          </p:cNvPr>
          <p:cNvSpPr txBox="1"/>
          <p:nvPr/>
        </p:nvSpPr>
        <p:spPr>
          <a:xfrm>
            <a:off x="2346820" y="5625224"/>
            <a:ext cx="67636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solidFill>
                  <a:srgbClr val="92D050"/>
                </a:solidFill>
              </a:rPr>
              <a:t>A commit message should clearly explain </a:t>
            </a:r>
            <a:r>
              <a:rPr lang="en-IN" sz="2000" b="1" dirty="0">
                <a:solidFill>
                  <a:srgbClr val="92D050"/>
                </a:solidFill>
              </a:rPr>
              <a:t>what was changed</a:t>
            </a:r>
            <a:r>
              <a:rPr lang="en-IN" sz="2000" dirty="0">
                <a:solidFill>
                  <a:srgbClr val="92D05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003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DBEE0-6361-DA08-8368-7007425E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4E9B-C3C0-F31C-F875-C3A2BADA3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219AD-2642-0062-62D9-4A8831812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Viewing Commit History</a:t>
            </a:r>
          </a:p>
          <a:p>
            <a:pPr marL="457200" lvl="1" indent="0">
              <a:buNone/>
            </a:pPr>
            <a:r>
              <a:rPr lang="en-IN" b="1" dirty="0"/>
              <a:t>	</a:t>
            </a:r>
            <a:r>
              <a:rPr lang="en-IN" b="1" i="1" dirty="0"/>
              <a:t>git  log</a:t>
            </a:r>
          </a:p>
          <a:p>
            <a:pPr marL="457200" lvl="1" indent="0">
              <a:buNone/>
            </a:pPr>
            <a:endParaRPr lang="en-IN" b="1" i="1" dirty="0"/>
          </a:p>
          <a:p>
            <a:pPr lvl="1"/>
            <a:r>
              <a:rPr lang="en-IN" b="1" dirty="0"/>
              <a:t>Information Displayed</a:t>
            </a:r>
          </a:p>
          <a:p>
            <a:pPr lvl="2"/>
            <a:r>
              <a:rPr lang="en-IN" dirty="0"/>
              <a:t>Commit ID </a:t>
            </a:r>
          </a:p>
          <a:p>
            <a:pPr lvl="2"/>
            <a:r>
              <a:rPr lang="en-IN" dirty="0"/>
              <a:t>Author </a:t>
            </a:r>
          </a:p>
          <a:p>
            <a:pPr lvl="2"/>
            <a:r>
              <a:rPr lang="en-IN" dirty="0"/>
              <a:t>Date </a:t>
            </a:r>
          </a:p>
          <a:p>
            <a:pPr lvl="2"/>
            <a:r>
              <a:rPr lang="en-IN" dirty="0"/>
              <a:t>Commit message</a:t>
            </a:r>
          </a:p>
          <a:p>
            <a:r>
              <a:rPr lang="en-IN" dirty="0"/>
              <a:t>Short Commit History</a:t>
            </a:r>
          </a:p>
          <a:p>
            <a:pPr marL="0" indent="0">
              <a:buNone/>
            </a:pPr>
            <a:r>
              <a:rPr lang="en-IN" sz="2000" b="1" i="1" dirty="0"/>
              <a:t>	git log --</a:t>
            </a:r>
            <a:r>
              <a:rPr lang="en-IN" sz="2000" b="1" i="1" dirty="0" err="1"/>
              <a:t>oneline</a:t>
            </a:r>
            <a:endParaRPr lang="en-US" sz="20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C0A7AD-C64F-09E7-EAFD-5D79F7496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244" y="1106377"/>
            <a:ext cx="5928874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FAF78-F478-DFD2-E572-BC10367A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25261-015A-AF1D-C611-025F6E9E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Commit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A90F-B1EF-F322-9817-F701D759D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View a Specific Commit</a:t>
            </a:r>
          </a:p>
          <a:p>
            <a:pPr marL="457200" lvl="1" indent="0">
              <a:buNone/>
            </a:pPr>
            <a:r>
              <a:rPr lang="en-IN" b="1" i="1" dirty="0"/>
              <a:t>	git show &lt;commit-id&gt;</a:t>
            </a:r>
          </a:p>
          <a:p>
            <a:pPr marL="457200" lvl="1" indent="0">
              <a:buNone/>
            </a:pPr>
            <a:endParaRPr lang="en-IN" b="1" i="1" dirty="0"/>
          </a:p>
          <a:p>
            <a:pPr lvl="1"/>
            <a:r>
              <a:rPr lang="en-IN" b="1" dirty="0"/>
              <a:t>Shows:</a:t>
            </a:r>
          </a:p>
          <a:p>
            <a:pPr lvl="2"/>
            <a:r>
              <a:rPr lang="en-IN" dirty="0"/>
              <a:t>Commit details </a:t>
            </a:r>
          </a:p>
          <a:p>
            <a:pPr lvl="2"/>
            <a:r>
              <a:rPr lang="en-IN" dirty="0"/>
              <a:t>Author </a:t>
            </a:r>
          </a:p>
          <a:p>
            <a:pPr lvl="2"/>
            <a:r>
              <a:rPr lang="en-IN" dirty="0"/>
              <a:t>Date </a:t>
            </a:r>
          </a:p>
          <a:p>
            <a:pPr lvl="2"/>
            <a:r>
              <a:rPr lang="en-IN" dirty="0"/>
              <a:t>Files changed </a:t>
            </a:r>
          </a:p>
          <a:p>
            <a:pPr lvl="2"/>
            <a:r>
              <a:rPr lang="en-IN" dirty="0"/>
              <a:t>Actual code changes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46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E707-4DD1-F1D3-9134-154CB7264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8491-9541-E8E1-DF2A-D97764C86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CHANGES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4CEAC-D8F5-1F6C-3113-53544E1E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8844378" cy="5590565"/>
          </a:xfrm>
        </p:spPr>
        <p:txBody>
          <a:bodyPr/>
          <a:lstStyle/>
          <a:p>
            <a:r>
              <a:rPr lang="en-IN" dirty="0"/>
              <a:t>Why Compare Changes?</a:t>
            </a:r>
          </a:p>
          <a:p>
            <a:pPr lvl="1"/>
            <a:r>
              <a:rPr lang="en-IN" dirty="0"/>
              <a:t>Before committing, developers should ask:</a:t>
            </a:r>
          </a:p>
          <a:p>
            <a:pPr marL="457200" lvl="1" indent="0">
              <a:buNone/>
            </a:pPr>
            <a:r>
              <a:rPr lang="en-IN" dirty="0"/>
              <a:t>	What exactly did I change?</a:t>
            </a:r>
          </a:p>
          <a:p>
            <a:pPr lvl="1"/>
            <a:endParaRPr lang="en-IN" dirty="0"/>
          </a:p>
          <a:p>
            <a:endParaRPr lang="en-IN" dirty="0"/>
          </a:p>
          <a:p>
            <a:r>
              <a:rPr lang="en-IN" dirty="0"/>
              <a:t>git diff</a:t>
            </a:r>
          </a:p>
          <a:p>
            <a:pPr lvl="1"/>
            <a:r>
              <a:rPr lang="en-IN" dirty="0"/>
              <a:t>Shows changes made in the </a:t>
            </a:r>
            <a:r>
              <a:rPr lang="en-IN" b="1" dirty="0"/>
              <a:t>Working Directory</a:t>
            </a:r>
            <a:r>
              <a:rPr lang="en-IN" dirty="0"/>
              <a:t> that have not yet been staged.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git diff –staged</a:t>
            </a:r>
          </a:p>
          <a:p>
            <a:pPr lvl="1"/>
            <a:r>
              <a:rPr lang="en-IN" dirty="0"/>
              <a:t>Shows changes that are already in the </a:t>
            </a:r>
            <a:r>
              <a:rPr lang="en-IN" b="1" dirty="0"/>
              <a:t>Staging Area</a:t>
            </a:r>
          </a:p>
          <a:p>
            <a:pPr marL="457200" lvl="1" indent="0">
              <a:buNone/>
            </a:pPr>
            <a:endParaRPr lang="en-IN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E8202-DBD9-2968-932E-380E9BEE893F}"/>
              </a:ext>
            </a:extLst>
          </p:cNvPr>
          <p:cNvSpPr txBox="1"/>
          <p:nvPr/>
        </p:nvSpPr>
        <p:spPr>
          <a:xfrm>
            <a:off x="9455983" y="1582340"/>
            <a:ext cx="248736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Edit File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git diff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Review Changes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git add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git diff --staged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Review Again</a:t>
            </a:r>
          </a:p>
          <a:p>
            <a:r>
              <a:rPr lang="en-IN" sz="2000" dirty="0"/>
              <a:t>   ↓</a:t>
            </a:r>
          </a:p>
          <a:p>
            <a:r>
              <a:rPr lang="en-IN" sz="2000" dirty="0"/>
              <a:t>git commit</a:t>
            </a:r>
          </a:p>
        </p:txBody>
      </p:sp>
    </p:spTree>
    <p:extLst>
      <p:ext uri="{BB962C8B-B14F-4D97-AF65-F5344CB8AC3E}">
        <p14:creationId xmlns:p14="http://schemas.microsoft.com/office/powerpoint/2010/main" val="401125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5781-D9D8-396E-A316-868822E6A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F9C10-4A27-9EE2-A59A-8D12862C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MISTAKES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894FF-F43D-9DF6-C216-5E2E9BDF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5086772" cy="3247162"/>
          </a:xfrm>
        </p:spPr>
        <p:txBody>
          <a:bodyPr/>
          <a:lstStyle/>
          <a:p>
            <a:r>
              <a:rPr lang="en-IN" dirty="0"/>
              <a:t>Everyone Makes Mistakes</a:t>
            </a:r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A5002-1CB1-971F-F55B-3B1AB42A8521}"/>
              </a:ext>
            </a:extLst>
          </p:cNvPr>
          <p:cNvSpPr txBox="1"/>
          <p:nvPr/>
        </p:nvSpPr>
        <p:spPr>
          <a:xfrm>
            <a:off x="1493922" y="1397675"/>
            <a:ext cx="255671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You write code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You modify code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You make a mistake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You want to go back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309911-EFA9-46AC-CD45-CEEAF228A047}"/>
              </a:ext>
            </a:extLst>
          </p:cNvPr>
          <p:cNvSpPr txBox="1">
            <a:spLocks/>
          </p:cNvSpPr>
          <p:nvPr/>
        </p:nvSpPr>
        <p:spPr>
          <a:xfrm>
            <a:off x="6298487" y="1150068"/>
            <a:ext cx="5086772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endParaRPr lang="en-IN" dirty="0"/>
          </a:p>
          <a:p>
            <a:pPr marL="0" indent="0">
              <a:buFont typeface="Wingdings 3" panose="05040102010807070707" pitchFamily="18" charset="2"/>
              <a:buNone/>
            </a:pPr>
            <a:endParaRPr lang="en-IN" dirty="0"/>
          </a:p>
          <a:p>
            <a:pPr lvl="1"/>
            <a:r>
              <a:rPr lang="en-IN" dirty="0"/>
              <a:t>Before undoing anything, ask:</a:t>
            </a:r>
          </a:p>
          <a:p>
            <a:pPr lvl="1"/>
            <a:endParaRPr lang="en-IN" dirty="0"/>
          </a:p>
          <a:p>
            <a:pPr lvl="1"/>
            <a:r>
              <a:rPr lang="en-IN" b="1" i="1" dirty="0"/>
              <a:t>Where is the mistake?</a:t>
            </a:r>
          </a:p>
          <a:p>
            <a:pPr lvl="1"/>
            <a:endParaRPr lang="en-IN" b="1" i="1" dirty="0"/>
          </a:p>
          <a:p>
            <a:pPr lvl="2"/>
            <a:r>
              <a:rPr lang="en-US" b="1" i="1" dirty="0"/>
              <a:t>1. Working Directory?</a:t>
            </a:r>
          </a:p>
          <a:p>
            <a:pPr marL="914400" lvl="2" indent="0">
              <a:buFont typeface="Wingdings" panose="05000000000000000000" pitchFamily="2" charset="2"/>
              <a:buNone/>
            </a:pPr>
            <a:r>
              <a:rPr lang="en-US" b="1" i="1" dirty="0"/>
              <a:t>	↓</a:t>
            </a:r>
          </a:p>
          <a:p>
            <a:pPr lvl="2"/>
            <a:r>
              <a:rPr lang="en-US" b="1" i="1" dirty="0"/>
              <a:t>2. Staging Area?</a:t>
            </a:r>
          </a:p>
          <a:p>
            <a:pPr marL="914400" lvl="2" indent="0">
              <a:buFont typeface="Wingdings" panose="05000000000000000000" pitchFamily="2" charset="2"/>
              <a:buNone/>
            </a:pPr>
            <a:r>
              <a:rPr lang="en-US" b="1" i="1" dirty="0"/>
              <a:t>	↓</a:t>
            </a:r>
          </a:p>
          <a:p>
            <a:pPr lvl="2"/>
            <a:r>
              <a:rPr lang="en-US" b="1" i="1" dirty="0"/>
              <a:t>3. Local Repository?</a:t>
            </a:r>
          </a:p>
          <a:p>
            <a:pPr marL="914400" lvl="2" indent="0">
              <a:buFont typeface="Wingdings" panose="05000000000000000000" pitchFamily="2" charset="2"/>
              <a:buNone/>
            </a:pPr>
            <a:r>
              <a:rPr lang="en-US" b="1" i="1" dirty="0"/>
              <a:t>	↓</a:t>
            </a:r>
          </a:p>
          <a:p>
            <a:pPr lvl="2"/>
            <a:r>
              <a:rPr lang="en-US" b="1" i="1" dirty="0"/>
              <a:t>4. Remote Repository?</a:t>
            </a:r>
          </a:p>
        </p:txBody>
      </p:sp>
    </p:spTree>
    <p:extLst>
      <p:ext uri="{BB962C8B-B14F-4D97-AF65-F5344CB8AC3E}">
        <p14:creationId xmlns:p14="http://schemas.microsoft.com/office/powerpoint/2010/main" val="90567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7201-5562-1259-EF33-C941F952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607C-2729-9007-F480-84BC1ECA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MISTAKES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82E94-CA47-9A2A-EEB3-DC8AE900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8022918" cy="32471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1) Undo Changes in Working Directory</a:t>
            </a:r>
          </a:p>
          <a:p>
            <a:r>
              <a:rPr lang="en-IN" b="1" dirty="0"/>
              <a:t>Situation:</a:t>
            </a:r>
          </a:p>
          <a:p>
            <a:pPr lvl="1"/>
            <a:r>
              <a:rPr lang="en-IN" dirty="0"/>
              <a:t>You modified a file but have </a:t>
            </a:r>
            <a:r>
              <a:rPr lang="en-IN" b="1" dirty="0"/>
              <a:t>not staged it</a:t>
            </a:r>
            <a:r>
              <a:rPr lang="en-IN" dirty="0"/>
              <a:t>.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r>
              <a:rPr lang="en-IN" dirty="0"/>
              <a:t>Command:</a:t>
            </a:r>
          </a:p>
          <a:p>
            <a:pPr marL="0" indent="0">
              <a:buNone/>
            </a:pPr>
            <a:r>
              <a:rPr lang="en-IN" b="1" i="1" dirty="0"/>
              <a:t>	git restore filename</a:t>
            </a:r>
          </a:p>
          <a:p>
            <a:endParaRPr lang="en-IN" dirty="0"/>
          </a:p>
          <a:p>
            <a:r>
              <a:rPr lang="en-IN" dirty="0"/>
              <a:t>Result:</a:t>
            </a:r>
          </a:p>
          <a:p>
            <a:pPr lvl="1"/>
            <a:r>
              <a:rPr lang="en-IN" dirty="0"/>
              <a:t>The file returns to the last committed version.</a:t>
            </a:r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D0C0A-33E4-5FA8-A06A-7626FE82EF64}"/>
              </a:ext>
            </a:extLst>
          </p:cNvPr>
          <p:cNvSpPr txBox="1"/>
          <p:nvPr/>
        </p:nvSpPr>
        <p:spPr>
          <a:xfrm>
            <a:off x="1699573" y="2121982"/>
            <a:ext cx="30305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File modified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git status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I don't want this change!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CCD3D4-5228-9512-FA23-BBBB942D0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279" y="2316703"/>
            <a:ext cx="6782388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1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3560-4438-4FBF-D08E-34B319E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BEB6-564A-F441-19D9-096917FC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MISTAKES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4A8F4-9BDC-1AA6-9A89-F9D02CC3C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8022918" cy="32471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2) Undo Changes in Staging Area</a:t>
            </a:r>
          </a:p>
          <a:p>
            <a:r>
              <a:rPr lang="en-IN" b="1" dirty="0"/>
              <a:t>Situation:</a:t>
            </a:r>
          </a:p>
          <a:p>
            <a:pPr lvl="1"/>
            <a:r>
              <a:rPr lang="en-IN" dirty="0"/>
              <a:t>You executed: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i="1" dirty="0"/>
              <a:t>git add index.txt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But now you decide:</a:t>
            </a:r>
          </a:p>
          <a:p>
            <a:pPr lvl="1"/>
            <a:r>
              <a:rPr lang="en-IN" dirty="0"/>
              <a:t>I do not want to commit this file yet.</a:t>
            </a:r>
          </a:p>
          <a:p>
            <a:pPr marL="457200" lvl="1" indent="0">
              <a:buNone/>
            </a:pPr>
            <a:endParaRPr lang="en-IN" b="1" dirty="0"/>
          </a:p>
          <a:p>
            <a:r>
              <a:rPr lang="en-IN" dirty="0"/>
              <a:t>Command:</a:t>
            </a:r>
          </a:p>
          <a:p>
            <a:pPr marL="0" indent="0">
              <a:buNone/>
            </a:pPr>
            <a:r>
              <a:rPr lang="en-IN" b="1" i="1" dirty="0"/>
              <a:t>		</a:t>
            </a:r>
            <a:r>
              <a:rPr lang="en-US" b="1" i="1" dirty="0"/>
              <a:t>git restore --staged </a:t>
            </a:r>
            <a:r>
              <a:rPr lang="en-US" b="1" i="1" dirty="0" err="1"/>
              <a:t>app.c</a:t>
            </a:r>
            <a:endParaRPr lang="en-IN" b="1" i="1" dirty="0"/>
          </a:p>
          <a:p>
            <a:endParaRPr lang="en-IN" dirty="0"/>
          </a:p>
          <a:p>
            <a:r>
              <a:rPr lang="en-IN" dirty="0"/>
              <a:t>Result:</a:t>
            </a:r>
          </a:p>
          <a:p>
            <a:pPr lvl="1"/>
            <a:r>
              <a:rPr lang="en-IN" dirty="0"/>
              <a:t>The file is in working directory. </a:t>
            </a:r>
          </a:p>
          <a:p>
            <a:pPr lvl="1"/>
            <a:r>
              <a:rPr lang="en-IN" dirty="0"/>
              <a:t>The file content is </a:t>
            </a:r>
            <a:r>
              <a:rPr lang="en-IN" b="1" dirty="0"/>
              <a:t>not deleted</a:t>
            </a:r>
            <a:r>
              <a:rPr lang="en-IN" dirty="0"/>
              <a:t>.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5299B0-5BC5-41AE-D523-309F0448C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731" y="1778466"/>
            <a:ext cx="6861015" cy="410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2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6109-309D-2302-88DD-CC5DA12F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93D8-B099-B568-6DD8-2B43C3040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FIXING COMMIT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4FD6C-90BD-EEF2-985D-ECF966CD9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8022918" cy="3247162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3) </a:t>
            </a:r>
            <a:r>
              <a:rPr lang="en-US" b="1" dirty="0">
                <a:solidFill>
                  <a:srgbClr val="00B0F0"/>
                </a:solidFill>
              </a:rPr>
              <a:t>Mistake in the Latest Commit</a:t>
            </a:r>
            <a:endParaRPr lang="en-IN" b="1" dirty="0">
              <a:solidFill>
                <a:srgbClr val="00B0F0"/>
              </a:solidFill>
            </a:endParaRPr>
          </a:p>
          <a:p>
            <a:r>
              <a:rPr lang="en-IN" b="1" dirty="0"/>
              <a:t>Situation:</a:t>
            </a:r>
          </a:p>
          <a:p>
            <a:pPr lvl="1"/>
            <a:r>
              <a:rPr lang="en-IN" dirty="0"/>
              <a:t>Suppose you created:</a:t>
            </a:r>
          </a:p>
          <a:p>
            <a:pPr marL="457200" lvl="1" indent="0">
              <a:buNone/>
            </a:pPr>
            <a:r>
              <a:rPr lang="en-US" b="1" i="1" dirty="0"/>
              <a:t>		git commit -m "Added login"</a:t>
            </a:r>
            <a:endParaRPr lang="en-IN" b="1" i="1" dirty="0"/>
          </a:p>
          <a:p>
            <a:pPr lvl="1"/>
            <a:endParaRPr lang="en-IN" dirty="0"/>
          </a:p>
          <a:p>
            <a:pPr lvl="1"/>
            <a:r>
              <a:rPr lang="en-IN" dirty="0"/>
              <a:t>But </a:t>
            </a:r>
            <a:r>
              <a:rPr lang="en-US" dirty="0"/>
              <a:t>immediately realize:</a:t>
            </a:r>
          </a:p>
          <a:p>
            <a:pPr lvl="2"/>
            <a:r>
              <a:rPr lang="en-US" dirty="0"/>
              <a:t>You forgot one file</a:t>
            </a:r>
          </a:p>
          <a:p>
            <a:pPr lvl="2"/>
            <a:r>
              <a:rPr lang="en-US" dirty="0"/>
              <a:t>The commit message is incorrect</a:t>
            </a:r>
          </a:p>
          <a:p>
            <a:pPr lvl="2"/>
            <a:r>
              <a:rPr lang="en-US" dirty="0"/>
              <a:t>You need to add a small change</a:t>
            </a:r>
          </a:p>
          <a:p>
            <a:pPr marL="457200" lvl="1" indent="0">
              <a:buNone/>
            </a:pPr>
            <a:endParaRPr lang="en-IN" b="1" dirty="0"/>
          </a:p>
          <a:p>
            <a:r>
              <a:rPr lang="en-IN" dirty="0"/>
              <a:t>Solution:</a:t>
            </a:r>
          </a:p>
          <a:p>
            <a:pPr marL="0" indent="0">
              <a:buNone/>
            </a:pPr>
            <a:r>
              <a:rPr lang="en-IN" b="1" i="1" dirty="0"/>
              <a:t>		</a:t>
            </a:r>
            <a:r>
              <a:rPr lang="en-US" b="1" i="1" dirty="0"/>
              <a:t>git commit  --amend --no-edit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Result:</a:t>
            </a:r>
          </a:p>
          <a:p>
            <a:pPr lvl="1"/>
            <a:r>
              <a:rPr lang="en-IN" dirty="0"/>
              <a:t>The previous commit is updated.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34613-660D-E810-B269-3E31BCDA0623}"/>
              </a:ext>
            </a:extLst>
          </p:cNvPr>
          <p:cNvSpPr txBox="1"/>
          <p:nvPr/>
        </p:nvSpPr>
        <p:spPr>
          <a:xfrm>
            <a:off x="6348369" y="2285691"/>
            <a:ext cx="6186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</a:t>
            </a:r>
          </a:p>
          <a:p>
            <a:endParaRPr lang="en-IN" i="1" dirty="0"/>
          </a:p>
          <a:p>
            <a:r>
              <a:rPr lang="en-IN" i="1" dirty="0"/>
              <a:t>First Commit </a:t>
            </a:r>
          </a:p>
          <a:p>
            <a:r>
              <a:rPr lang="en-IN" dirty="0"/>
              <a:t>	git commit -m "Added login“</a:t>
            </a:r>
          </a:p>
          <a:p>
            <a:endParaRPr lang="en-IN" dirty="0"/>
          </a:p>
          <a:p>
            <a:r>
              <a:rPr lang="en-IN" dirty="0"/>
              <a:t>Forgot a File</a:t>
            </a:r>
          </a:p>
          <a:p>
            <a:r>
              <a:rPr lang="en-IN" dirty="0"/>
              <a:t>	git add </a:t>
            </a:r>
            <a:r>
              <a:rPr lang="en-IN" dirty="0" err="1"/>
              <a:t>validation.c</a:t>
            </a:r>
            <a:endParaRPr lang="en-IN" dirty="0"/>
          </a:p>
          <a:p>
            <a:endParaRPr lang="en-IN" dirty="0"/>
          </a:p>
          <a:p>
            <a:r>
              <a:rPr lang="en-IN" dirty="0"/>
              <a:t>Add it to the Previous Commit</a:t>
            </a:r>
          </a:p>
          <a:p>
            <a:r>
              <a:rPr lang="en-IN" dirty="0"/>
              <a:t>	git commit --amend –no-edit</a:t>
            </a:r>
          </a:p>
        </p:txBody>
      </p:sp>
    </p:spTree>
    <p:extLst>
      <p:ext uri="{BB962C8B-B14F-4D97-AF65-F5344CB8AC3E}">
        <p14:creationId xmlns:p14="http://schemas.microsoft.com/office/powerpoint/2010/main" val="237154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24DD-046A-2CF8-36B8-35398E4AA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BFAE-F9B2-4CFD-0D3D-63E4F043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FIXING COMMIT MISTAKES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DD8AB-2BCF-3334-36B2-A3AEA7D0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227513" cy="552057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rgbClr val="00B0F0"/>
                </a:solidFill>
              </a:rPr>
              <a:t>3) </a:t>
            </a:r>
            <a:r>
              <a:rPr lang="en-US" b="1" dirty="0">
                <a:solidFill>
                  <a:srgbClr val="00B0F0"/>
                </a:solidFill>
              </a:rPr>
              <a:t>Mistake in the Latest Commit</a:t>
            </a:r>
          </a:p>
          <a:p>
            <a:pPr marL="0" indent="0">
              <a:buNone/>
            </a:pPr>
            <a:endParaRPr lang="en-IN" b="1" dirty="0">
              <a:solidFill>
                <a:srgbClr val="00B0F0"/>
              </a:solidFill>
            </a:endParaRPr>
          </a:p>
          <a:p>
            <a:r>
              <a:rPr lang="en-US" b="1" dirty="0">
                <a:solidFill>
                  <a:srgbClr val="00B0F0"/>
                </a:solidFill>
              </a:rPr>
              <a:t>Change the Last Commit Message</a:t>
            </a:r>
            <a:endParaRPr lang="en-IN" b="1" dirty="0"/>
          </a:p>
          <a:p>
            <a:pPr marL="457200" lvl="1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i="1" dirty="0"/>
              <a:t>		</a:t>
            </a:r>
            <a:r>
              <a:rPr lang="en-US" b="1" i="1" dirty="0"/>
              <a:t>git commit --amend -m "Added login validation“</a:t>
            </a:r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lvl="1"/>
            <a:r>
              <a:rPr lang="en-IN" dirty="0"/>
              <a:t>Before:</a:t>
            </a:r>
          </a:p>
          <a:p>
            <a:pPr marL="457200" lvl="1" indent="0">
              <a:buNone/>
            </a:pPr>
            <a:r>
              <a:rPr lang="en-IN" dirty="0"/>
              <a:t>		Added login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r>
              <a:rPr lang="en-IN" dirty="0"/>
              <a:t>After:</a:t>
            </a:r>
          </a:p>
          <a:p>
            <a:pPr marL="457200" lvl="1" indent="0">
              <a:buNone/>
            </a:pPr>
            <a:r>
              <a:rPr lang="en-IN" dirty="0"/>
              <a:t>		Added login validation</a:t>
            </a:r>
          </a:p>
          <a:p>
            <a:r>
              <a:rPr lang="en-IN" b="1" i="1" dirty="0"/>
              <a:t>Note:</a:t>
            </a:r>
          </a:p>
          <a:p>
            <a:pPr lvl="1"/>
            <a:r>
              <a:rPr lang="en-IN" b="1" dirty="0">
                <a:solidFill>
                  <a:srgbClr val="C00000"/>
                </a:solidFill>
              </a:rPr>
              <a:t>Use --amend carefully when the commit has already been shared with others.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942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06B31-4AF7-C4F0-27E9-187DC5CD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2888-711B-9265-C781-4297E366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86E15-1544-532B-284F-730AF0EAC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847136" cy="5590565"/>
          </a:xfrm>
        </p:spPr>
        <p:txBody>
          <a:bodyPr/>
          <a:lstStyle/>
          <a:p>
            <a:r>
              <a:rPr lang="en-IN" dirty="0"/>
              <a:t>Undoing a Commit</a:t>
            </a:r>
          </a:p>
          <a:p>
            <a:pPr lvl="1"/>
            <a:r>
              <a:rPr lang="en-IN" dirty="0"/>
              <a:t>Suppose the history is:</a:t>
            </a:r>
          </a:p>
          <a:p>
            <a:pPr marL="3076575" lvl="7" indent="0">
              <a:buNone/>
            </a:pPr>
            <a:r>
              <a:rPr lang="en-US" sz="2000" dirty="0"/>
              <a:t>Commit 1: Initial Project</a:t>
            </a:r>
          </a:p>
          <a:p>
            <a:pPr marL="3076575" lvl="7" indent="0">
              <a:buNone/>
            </a:pPr>
            <a:r>
              <a:rPr lang="en-US" sz="2000" dirty="0"/>
              <a:t> 	↓</a:t>
            </a:r>
          </a:p>
          <a:p>
            <a:pPr marL="3076575" lvl="7" indent="0">
              <a:buNone/>
            </a:pPr>
            <a:r>
              <a:rPr lang="en-US" sz="2000" dirty="0"/>
              <a:t>Commit 2: Add Calculator</a:t>
            </a:r>
          </a:p>
          <a:p>
            <a:pPr marL="3076575" lvl="7" indent="0">
              <a:buNone/>
            </a:pPr>
            <a:r>
              <a:rPr lang="en-US" sz="2000" dirty="0"/>
              <a:t>     	↓</a:t>
            </a:r>
          </a:p>
          <a:p>
            <a:pPr marL="3076575" lvl="7" indent="0">
              <a:buNone/>
            </a:pPr>
            <a:r>
              <a:rPr lang="en-US" sz="2000" dirty="0"/>
              <a:t>Commit 3: Add Bug ❌</a:t>
            </a:r>
            <a:endParaRPr lang="en-IN" sz="2000" dirty="0"/>
          </a:p>
          <a:p>
            <a:pPr lvl="1"/>
            <a:r>
              <a:rPr lang="en-IN" dirty="0"/>
              <a:t>You want to undo the change introduced by Commit 3.</a:t>
            </a:r>
          </a:p>
          <a:p>
            <a:pPr lvl="1"/>
            <a:r>
              <a:rPr lang="en-IN" dirty="0"/>
              <a:t>Command: </a:t>
            </a:r>
          </a:p>
          <a:p>
            <a:pPr marL="2162175" lvl="5" indent="0">
              <a:buNone/>
            </a:pPr>
            <a:r>
              <a:rPr lang="en-IN" sz="2000" b="1" i="1" dirty="0"/>
              <a:t>git revert  &lt;commit-id&gt;</a:t>
            </a:r>
          </a:p>
          <a:p>
            <a:pPr marL="2162175" lvl="5" indent="0">
              <a:buNone/>
            </a:pPr>
            <a:endParaRPr lang="en-IN" sz="2000" b="1" i="1" dirty="0"/>
          </a:p>
          <a:p>
            <a:pPr lvl="1"/>
            <a:r>
              <a:rPr lang="en-IN" dirty="0"/>
              <a:t>Git creates a </a:t>
            </a:r>
            <a:r>
              <a:rPr lang="en-IN" b="1" dirty="0"/>
              <a:t>new commit</a:t>
            </a:r>
            <a:r>
              <a:rPr lang="en-IN" dirty="0"/>
              <a:t> that reverses the changes of the previous commit.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A4080-6CC1-98BA-0329-CED71318E548}"/>
              </a:ext>
            </a:extLst>
          </p:cNvPr>
          <p:cNvSpPr txBox="1"/>
          <p:nvPr/>
        </p:nvSpPr>
        <p:spPr>
          <a:xfrm>
            <a:off x="7603958" y="3899464"/>
            <a:ext cx="416292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Commit 1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Commit 2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Commit 3 ❌</a:t>
            </a:r>
          </a:p>
          <a:p>
            <a:r>
              <a:rPr lang="en-IN" sz="2000" dirty="0"/>
              <a:t>      ↓</a:t>
            </a:r>
          </a:p>
          <a:p>
            <a:r>
              <a:rPr lang="en-IN" sz="2000" dirty="0"/>
              <a:t>Commit 4</a:t>
            </a:r>
          </a:p>
          <a:p>
            <a:r>
              <a:rPr lang="en-IN" sz="2000" dirty="0"/>
              <a:t>(Reverses Commit 3)</a:t>
            </a:r>
          </a:p>
        </p:txBody>
      </p:sp>
    </p:spTree>
    <p:extLst>
      <p:ext uri="{BB962C8B-B14F-4D97-AF65-F5344CB8AC3E}">
        <p14:creationId xmlns:p14="http://schemas.microsoft.com/office/powerpoint/2010/main" val="121334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20889-92CF-33D5-287B-BEB7AB18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5E6F-DEAB-F32E-ADB8-437D40691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0806A-B71D-374D-3FE6-4C91EF26B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879600"/>
            <a:ext cx="5111938" cy="5590565"/>
          </a:xfrm>
        </p:spPr>
        <p:txBody>
          <a:bodyPr/>
          <a:lstStyle/>
          <a:p>
            <a:r>
              <a:rPr lang="en-IN" dirty="0"/>
              <a:t>Why is git </a:t>
            </a:r>
            <a:r>
              <a:rPr lang="en-IN" b="1" i="1" dirty="0"/>
              <a:t>revert</a:t>
            </a:r>
            <a:r>
              <a:rPr lang="en-IN" dirty="0"/>
              <a:t> Safe?</a:t>
            </a:r>
          </a:p>
          <a:p>
            <a:pPr lvl="1"/>
            <a:r>
              <a:rPr lang="en-IN" dirty="0"/>
              <a:t>Original History: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	A → B → C</a:t>
            </a:r>
          </a:p>
          <a:p>
            <a:pPr lvl="1"/>
            <a:r>
              <a:rPr lang="en-IN" dirty="0"/>
              <a:t>After Revert: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	A → B → C → C-Revert</a:t>
            </a:r>
          </a:p>
          <a:p>
            <a:pPr lvl="1"/>
            <a:endParaRPr lang="en-IN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History is preserved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No commit is deleted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dirty="0"/>
              <a:t>Safe for shared repositories</a:t>
            </a:r>
          </a:p>
          <a:p>
            <a:pPr lvl="1"/>
            <a:endParaRPr lang="en-US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B79D-CB74-4FA8-74B7-DE983F08E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62" y="1006717"/>
            <a:ext cx="7222688" cy="383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1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56B-2F8E-B916-23AB-8D614117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0796-727A-0BBB-83A9-064CF649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8B5B-41CB-1267-73E8-75397079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879600"/>
            <a:ext cx="5068596" cy="5590565"/>
          </a:xfrm>
        </p:spPr>
        <p:txBody>
          <a:bodyPr/>
          <a:lstStyle/>
          <a:p>
            <a:r>
              <a:rPr lang="en-IN" dirty="0"/>
              <a:t>Reverting an </a:t>
            </a:r>
            <a:r>
              <a:rPr lang="en-IN" b="1" dirty="0"/>
              <a:t>Older Commit</a:t>
            </a:r>
            <a:r>
              <a:rPr lang="en-IN" dirty="0"/>
              <a:t> That Causes </a:t>
            </a:r>
            <a:r>
              <a:rPr lang="en-IN" b="1" dirty="0"/>
              <a:t>Conflict</a:t>
            </a:r>
          </a:p>
          <a:p>
            <a:pPr lvl="1"/>
            <a:r>
              <a:rPr lang="en-IN" dirty="0"/>
              <a:t>Original History: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	A → B → C</a:t>
            </a:r>
          </a:p>
          <a:p>
            <a:pPr lvl="1"/>
            <a:r>
              <a:rPr lang="en-IN" dirty="0"/>
              <a:t>After Revert: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	A → B → C → B-Revert</a:t>
            </a:r>
          </a:p>
          <a:p>
            <a:pPr marL="457200" lvl="1" indent="0">
              <a:buNone/>
            </a:pPr>
            <a:endParaRPr lang="en-IN" b="1" dirty="0"/>
          </a:p>
          <a:p>
            <a:pPr marL="457200" lvl="1" indent="0">
              <a:buNone/>
            </a:pPr>
            <a:r>
              <a:rPr lang="en-IN" dirty="0"/>
              <a:t>git log --</a:t>
            </a:r>
            <a:r>
              <a:rPr lang="en-IN" dirty="0" err="1"/>
              <a:t>oneline</a:t>
            </a:r>
            <a:endParaRPr lang="en-IN" dirty="0"/>
          </a:p>
          <a:p>
            <a:pPr marL="457200" lvl="1" indent="0">
              <a:buNone/>
            </a:pPr>
            <a:r>
              <a:rPr lang="en-US" dirty="0"/>
              <a:t>git revert &lt;older-commit-id&gt;</a:t>
            </a:r>
          </a:p>
          <a:p>
            <a:pPr marL="457200" lvl="1" indent="0">
              <a:buNone/>
            </a:pPr>
            <a:r>
              <a:rPr lang="en-US" dirty="0"/>
              <a:t>Edit file manually and make changes as per your requirement</a:t>
            </a:r>
          </a:p>
          <a:p>
            <a:pPr marL="457200" lvl="1" indent="0">
              <a:buNone/>
            </a:pPr>
            <a:r>
              <a:rPr lang="en-US" dirty="0"/>
              <a:t>git add &lt;filename&gt;</a:t>
            </a:r>
          </a:p>
          <a:p>
            <a:pPr marL="457200" lvl="1" indent="0">
              <a:buNone/>
            </a:pPr>
            <a:r>
              <a:rPr lang="en-US" dirty="0"/>
              <a:t>git revert --continue</a:t>
            </a:r>
          </a:p>
          <a:p>
            <a:pPr lvl="1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D1C2C1-447E-9123-AB91-21C7FB436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12" y="734185"/>
            <a:ext cx="6697578" cy="58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0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1778-A368-6FC9-EF17-BD36783B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F93A-6785-822E-4124-5700BA83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6EAFA-A094-9C3B-6B4C-66CAF97A3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879600"/>
            <a:ext cx="10699006" cy="5590565"/>
          </a:xfrm>
        </p:spPr>
        <p:txBody>
          <a:bodyPr/>
          <a:lstStyle/>
          <a:p>
            <a:pPr marL="0" indent="0">
              <a:buNone/>
            </a:pPr>
            <a:r>
              <a:rPr lang="en-IN" b="1" i="1" dirty="0"/>
              <a:t>RESET</a:t>
            </a:r>
          </a:p>
          <a:p>
            <a:r>
              <a:rPr lang="en-IN" dirty="0"/>
              <a:t>git reset moves the current branch to an earlier commit.</a:t>
            </a:r>
          </a:p>
          <a:p>
            <a:pPr lvl="1"/>
            <a:r>
              <a:rPr lang="en-IN" dirty="0"/>
              <a:t>Original History: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b="1" dirty="0"/>
              <a:t>	A → B → C → D</a:t>
            </a:r>
          </a:p>
          <a:p>
            <a:pPr lvl="1"/>
            <a:r>
              <a:rPr lang="en-IN" dirty="0"/>
              <a:t>After reset:</a:t>
            </a:r>
          </a:p>
          <a:p>
            <a:pPr marL="457200" lvl="1" indent="0">
              <a:buNone/>
            </a:pPr>
            <a:r>
              <a:rPr lang="en-IN" b="1" dirty="0"/>
              <a:t>		A → B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IN" dirty="0"/>
              <a:t>The branch moves backward.</a:t>
            </a:r>
          </a:p>
          <a:p>
            <a:endParaRPr lang="en-IN" dirty="0"/>
          </a:p>
          <a:p>
            <a:r>
              <a:rPr lang="en-IN" dirty="0"/>
              <a:t>Types of git reset</a:t>
            </a:r>
          </a:p>
          <a:p>
            <a:pPr lvl="1"/>
            <a:r>
              <a:rPr lang="en-IN" dirty="0"/>
              <a:t>Soft Reset</a:t>
            </a:r>
          </a:p>
          <a:p>
            <a:pPr lvl="1"/>
            <a:r>
              <a:rPr lang="en-IN" dirty="0"/>
              <a:t>Mixed Reset</a:t>
            </a:r>
          </a:p>
          <a:p>
            <a:pPr lvl="1"/>
            <a:r>
              <a:rPr lang="en-IN" dirty="0"/>
              <a:t>Hard Reset</a:t>
            </a:r>
          </a:p>
        </p:txBody>
      </p:sp>
    </p:spTree>
    <p:extLst>
      <p:ext uri="{BB962C8B-B14F-4D97-AF65-F5344CB8AC3E}">
        <p14:creationId xmlns:p14="http://schemas.microsoft.com/office/powerpoint/2010/main" val="66299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89B46-2701-A8D2-718C-85D190CD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7B4B-3DA4-D32E-ADA4-8016AA40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3F142-57DD-F6FE-FB90-B563EB780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728598"/>
            <a:ext cx="5237773" cy="5806426"/>
          </a:xfrm>
        </p:spPr>
        <p:txBody>
          <a:bodyPr/>
          <a:lstStyle/>
          <a:p>
            <a:pPr marL="0" indent="0">
              <a:buNone/>
            </a:pPr>
            <a:r>
              <a:rPr lang="en-IN" b="1" i="1" dirty="0"/>
              <a:t>RESET</a:t>
            </a:r>
          </a:p>
          <a:p>
            <a:r>
              <a:rPr lang="en-IN" dirty="0"/>
              <a:t>Types of git reset</a:t>
            </a:r>
          </a:p>
          <a:p>
            <a:pPr lvl="1"/>
            <a:r>
              <a:rPr lang="en-IN" dirty="0"/>
              <a:t>Soft Reset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i="1" dirty="0"/>
              <a:t>git reset --soft HEAD~1</a:t>
            </a:r>
          </a:p>
          <a:p>
            <a:pPr lvl="2"/>
            <a:r>
              <a:rPr lang="en-US" dirty="0"/>
              <a:t>Removes the last commit</a:t>
            </a:r>
          </a:p>
          <a:p>
            <a:pPr lvl="2"/>
            <a:r>
              <a:rPr lang="en-US" dirty="0"/>
              <a:t>Keeps changes staged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Mixed Reset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b="1" i="1" dirty="0"/>
              <a:t>git reset HEAD~1</a:t>
            </a:r>
          </a:p>
          <a:p>
            <a:pPr lvl="2"/>
            <a:r>
              <a:rPr lang="en-IN" dirty="0"/>
              <a:t>Removes the last commit</a:t>
            </a:r>
          </a:p>
          <a:p>
            <a:pPr lvl="2"/>
            <a:r>
              <a:rPr lang="en-IN" dirty="0"/>
              <a:t>Keeps file changes</a:t>
            </a:r>
          </a:p>
          <a:p>
            <a:pPr lvl="2"/>
            <a:r>
              <a:rPr lang="en-IN" dirty="0" err="1"/>
              <a:t>Unstages</a:t>
            </a:r>
            <a:r>
              <a:rPr lang="en-IN" dirty="0"/>
              <a:t> the changes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r>
              <a:rPr lang="en-IN" dirty="0"/>
              <a:t>Hard Reset</a:t>
            </a:r>
          </a:p>
          <a:p>
            <a:pPr marL="457200" lvl="1" indent="0">
              <a:buNone/>
            </a:pPr>
            <a:r>
              <a:rPr lang="en-IN" b="1" i="1" dirty="0"/>
              <a:t>		git reset --hard HEAD~1</a:t>
            </a:r>
          </a:p>
          <a:p>
            <a:pPr lvl="2"/>
            <a:r>
              <a:rPr lang="en-IN" dirty="0"/>
              <a:t>Removes the last commit</a:t>
            </a:r>
          </a:p>
          <a:p>
            <a:pPr lvl="2"/>
            <a:r>
              <a:rPr lang="en-IN" dirty="0"/>
              <a:t>Removes file changes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74741-4482-7D60-14D4-7F2AB8BBFD20}"/>
              </a:ext>
            </a:extLst>
          </p:cNvPr>
          <p:cNvSpPr txBox="1"/>
          <p:nvPr/>
        </p:nvSpPr>
        <p:spPr>
          <a:xfrm>
            <a:off x="6582561" y="3631811"/>
            <a:ext cx="6128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i="1" dirty="0">
                <a:solidFill>
                  <a:srgbClr val="FF0000"/>
                </a:solidFill>
              </a:rPr>
              <a:t>Potential data loss!</a:t>
            </a:r>
          </a:p>
        </p:txBody>
      </p:sp>
    </p:spTree>
    <p:extLst>
      <p:ext uri="{BB962C8B-B14F-4D97-AF65-F5344CB8AC3E}">
        <p14:creationId xmlns:p14="http://schemas.microsoft.com/office/powerpoint/2010/main" val="969542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82A94-45AE-CBE7-A723-BDB985F4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2FCDA-D3C5-796C-D597-EA487C3D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1B4A-FDA4-FC48-9BCB-CD6CC2E56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728598"/>
            <a:ext cx="5237773" cy="563307"/>
          </a:xfrm>
        </p:spPr>
        <p:txBody>
          <a:bodyPr/>
          <a:lstStyle/>
          <a:p>
            <a:pPr marL="0" indent="0">
              <a:buNone/>
            </a:pPr>
            <a:r>
              <a:rPr lang="en-IN" sz="2800" b="1" i="1" dirty="0">
                <a:solidFill>
                  <a:srgbClr val="00B0F0"/>
                </a:solidFill>
              </a:rPr>
              <a:t>git revert VS git reset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156F2C-4D4E-EEED-6E35-2A654C617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184472"/>
              </p:ext>
            </p:extLst>
          </p:nvPr>
        </p:nvGraphicFramePr>
        <p:xfrm>
          <a:off x="1352491" y="1390785"/>
          <a:ext cx="867382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2351">
                  <a:extLst>
                    <a:ext uri="{9D8B030D-6E8A-4147-A177-3AD203B41FA5}">
                      <a16:colId xmlns:a16="http://schemas.microsoft.com/office/drawing/2014/main" val="459997123"/>
                    </a:ext>
                  </a:extLst>
                </a:gridCol>
                <a:gridCol w="1480199">
                  <a:extLst>
                    <a:ext uri="{9D8B030D-6E8A-4147-A177-3AD203B41FA5}">
                      <a16:colId xmlns:a16="http://schemas.microsoft.com/office/drawing/2014/main" val="425571712"/>
                    </a:ext>
                  </a:extLst>
                </a:gridCol>
                <a:gridCol w="2891275">
                  <a:extLst>
                    <a:ext uri="{9D8B030D-6E8A-4147-A177-3AD203B41FA5}">
                      <a16:colId xmlns:a16="http://schemas.microsoft.com/office/drawing/2014/main" val="3553520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git revert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git reset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88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Creates new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608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Preserves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Can rewrite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373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Safe for shared 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Usually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140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Useful for public commits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Avoid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389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Removes commit from branch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715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01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4170-26FF-B70A-93FF-9AFC2A67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191A-5D97-05DA-0021-98F54818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UNDOING COMMITTED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0F01-A0CC-5816-F3C7-CB124E558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728598"/>
            <a:ext cx="5237773" cy="563307"/>
          </a:xfrm>
        </p:spPr>
        <p:txBody>
          <a:bodyPr/>
          <a:lstStyle/>
          <a:p>
            <a:pPr marL="0" indent="0">
              <a:buNone/>
            </a:pPr>
            <a:r>
              <a:rPr lang="en-IN" sz="2800" b="1" i="1" dirty="0"/>
              <a:t>Git Undo Decision Tree</a:t>
            </a:r>
            <a:endParaRPr lang="en-IN" sz="2800" b="1" i="1" dirty="0">
              <a:solidFill>
                <a:srgbClr val="00B0F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4DEF1-41CA-B5AA-2FCC-20EB72497068}"/>
              </a:ext>
            </a:extLst>
          </p:cNvPr>
          <p:cNvSpPr txBox="1"/>
          <p:nvPr/>
        </p:nvSpPr>
        <p:spPr>
          <a:xfrm>
            <a:off x="631271" y="1442149"/>
            <a:ext cx="32360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Did you modify a file?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▼</a:t>
            </a:r>
          </a:p>
          <a:p>
            <a:r>
              <a:rPr lang="en-IN" dirty="0"/>
              <a:t>Do you want to discard it?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Yes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▼</a:t>
            </a:r>
          </a:p>
          <a:p>
            <a:r>
              <a:rPr lang="en-IN" dirty="0"/>
              <a:t>git restore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26AD6D-AFFD-14E8-4FE7-82F4B31CC9ED}"/>
              </a:ext>
            </a:extLst>
          </p:cNvPr>
          <p:cNvSpPr txBox="1"/>
          <p:nvPr/>
        </p:nvSpPr>
        <p:spPr>
          <a:xfrm>
            <a:off x="4037202" y="2551837"/>
            <a:ext cx="31689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1691F6"/>
                </a:solidFill>
              </a:rPr>
              <a:t>Did you stage a file?</a:t>
            </a:r>
          </a:p>
          <a:p>
            <a:r>
              <a:rPr lang="en-IN" dirty="0">
                <a:solidFill>
                  <a:srgbClr val="1691F6"/>
                </a:solidFill>
              </a:rPr>
              <a:t>        │</a:t>
            </a:r>
          </a:p>
          <a:p>
            <a:r>
              <a:rPr lang="en-IN" dirty="0">
                <a:solidFill>
                  <a:srgbClr val="1691F6"/>
                </a:solidFill>
              </a:rPr>
              <a:t>        ▼</a:t>
            </a:r>
          </a:p>
          <a:p>
            <a:r>
              <a:rPr lang="en-IN" dirty="0">
                <a:solidFill>
                  <a:srgbClr val="1691F6"/>
                </a:solidFill>
              </a:rPr>
              <a:t>Want to </a:t>
            </a:r>
            <a:r>
              <a:rPr lang="en-IN" dirty="0" err="1">
                <a:solidFill>
                  <a:srgbClr val="1691F6"/>
                </a:solidFill>
              </a:rPr>
              <a:t>unstage</a:t>
            </a:r>
            <a:r>
              <a:rPr lang="en-IN" dirty="0">
                <a:solidFill>
                  <a:srgbClr val="1691F6"/>
                </a:solidFill>
              </a:rPr>
              <a:t> it?</a:t>
            </a:r>
          </a:p>
          <a:p>
            <a:r>
              <a:rPr lang="en-IN" dirty="0">
                <a:solidFill>
                  <a:srgbClr val="1691F6"/>
                </a:solidFill>
              </a:rPr>
              <a:t>        │</a:t>
            </a:r>
          </a:p>
          <a:p>
            <a:r>
              <a:rPr lang="en-IN" dirty="0">
                <a:solidFill>
                  <a:srgbClr val="1691F6"/>
                </a:solidFill>
              </a:rPr>
              <a:t>        ▼</a:t>
            </a:r>
          </a:p>
          <a:p>
            <a:r>
              <a:rPr lang="en-IN" dirty="0">
                <a:solidFill>
                  <a:srgbClr val="1691F6"/>
                </a:solidFill>
              </a:rPr>
              <a:t>git restore --staged 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F5381D-972C-6CD4-F259-9919E2897CF5}"/>
              </a:ext>
            </a:extLst>
          </p:cNvPr>
          <p:cNvSpPr txBox="1"/>
          <p:nvPr/>
        </p:nvSpPr>
        <p:spPr>
          <a:xfrm>
            <a:off x="7275355" y="4195251"/>
            <a:ext cx="31689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Did you commit a mistake?</a:t>
            </a:r>
          </a:p>
          <a:p>
            <a:r>
              <a:rPr lang="en-IN" dirty="0"/>
              <a:t>        │</a:t>
            </a:r>
          </a:p>
          <a:p>
            <a:r>
              <a:rPr lang="en-IN" dirty="0"/>
              <a:t>        ▼</a:t>
            </a:r>
          </a:p>
          <a:p>
            <a:r>
              <a:rPr lang="en-IN" dirty="0"/>
              <a:t>Shared with others?</a:t>
            </a:r>
          </a:p>
          <a:p>
            <a:r>
              <a:rPr lang="en-IN" dirty="0"/>
              <a:t>   │              │</a:t>
            </a:r>
          </a:p>
          <a:p>
            <a:r>
              <a:rPr lang="en-IN" dirty="0"/>
              <a:t>  Yes             No</a:t>
            </a:r>
          </a:p>
          <a:p>
            <a:r>
              <a:rPr lang="en-IN" dirty="0"/>
              <a:t>   │              │</a:t>
            </a:r>
          </a:p>
          <a:p>
            <a:r>
              <a:rPr lang="en-IN" dirty="0"/>
              <a:t>git revert    git reset</a:t>
            </a:r>
          </a:p>
        </p:txBody>
      </p:sp>
    </p:spTree>
    <p:extLst>
      <p:ext uri="{BB962C8B-B14F-4D97-AF65-F5344CB8AC3E}">
        <p14:creationId xmlns:p14="http://schemas.microsoft.com/office/powerpoint/2010/main" val="47042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8ED4-30E6-F87A-D01A-6862E61FC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Branching and Merging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70746-51F9-3C0F-5984-4732910F2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F487E"/>
                </a:solidFill>
              </a:rPr>
              <a:t>Section - 3</a:t>
            </a:r>
          </a:p>
        </p:txBody>
      </p:sp>
    </p:spTree>
    <p:extLst>
      <p:ext uri="{BB962C8B-B14F-4D97-AF65-F5344CB8AC3E}">
        <p14:creationId xmlns:p14="http://schemas.microsoft.com/office/powerpoint/2010/main" val="19659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CBAFE-9EBA-A645-D397-552CEE6E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8349-C22E-792B-A06E-455B6A27E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59053-124C-1D32-DFD1-7A33AEBBD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728598"/>
            <a:ext cx="7393744" cy="5806426"/>
          </a:xfrm>
        </p:spPr>
        <p:txBody>
          <a:bodyPr/>
          <a:lstStyle/>
          <a:p>
            <a:r>
              <a:rPr lang="en-IN" dirty="0"/>
              <a:t>Imagine four students are working on the same project.</a:t>
            </a:r>
          </a:p>
          <a:p>
            <a:r>
              <a:rPr lang="en-IN" dirty="0"/>
              <a:t>Student A		Login Module </a:t>
            </a:r>
          </a:p>
          <a:p>
            <a:r>
              <a:rPr lang="en-IN" dirty="0"/>
              <a:t>Student B		Registration Module </a:t>
            </a:r>
          </a:p>
          <a:p>
            <a:r>
              <a:rPr lang="en-IN" dirty="0"/>
              <a:t>Student C		Payment Module </a:t>
            </a:r>
          </a:p>
          <a:p>
            <a:r>
              <a:rPr lang="en-IN" dirty="0"/>
              <a:t>Student D		Bug Fixes </a:t>
            </a:r>
          </a:p>
          <a:p>
            <a:r>
              <a:rPr lang="en-IN" dirty="0"/>
              <a:t>Question:</a:t>
            </a:r>
          </a:p>
          <a:p>
            <a:pPr lvl="1"/>
            <a:r>
              <a:rPr lang="en-IN" b="1" dirty="0"/>
              <a:t>Should everyone edit the same file directly?</a:t>
            </a:r>
          </a:p>
          <a:p>
            <a:endParaRPr lang="en-IN" b="1" dirty="0"/>
          </a:p>
          <a:p>
            <a:pPr algn="l"/>
            <a:r>
              <a:rPr lang="en-IN" dirty="0"/>
              <a:t>Answer:</a:t>
            </a:r>
            <a:br>
              <a:rPr lang="en-IN" dirty="0"/>
            </a:br>
            <a:r>
              <a:rPr lang="en-IN" b="1" dirty="0"/>
              <a:t>No.</a:t>
            </a:r>
          </a:p>
          <a:p>
            <a:r>
              <a:rPr lang="en-IN" dirty="0"/>
              <a:t>Everyone works in their own branch.</a:t>
            </a:r>
          </a:p>
          <a:p>
            <a:r>
              <a:rPr lang="en-IN" dirty="0"/>
              <a:t>Later all work is merged into the main project.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83642-30D2-120B-2194-FF3362BA66E8}"/>
              </a:ext>
            </a:extLst>
          </p:cNvPr>
          <p:cNvSpPr txBox="1"/>
          <p:nvPr/>
        </p:nvSpPr>
        <p:spPr>
          <a:xfrm>
            <a:off x="6479344" y="2952817"/>
            <a:ext cx="544725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What is a Branch?</a:t>
            </a:r>
          </a:p>
          <a:p>
            <a:r>
              <a:rPr lang="en-IN" sz="2400" dirty="0"/>
              <a:t>A branch is An independent line of development.</a:t>
            </a:r>
          </a:p>
          <a:p>
            <a:endParaRPr lang="en-IN" sz="2400" dirty="0"/>
          </a:p>
          <a:p>
            <a:r>
              <a:rPr lang="en-IN" sz="2400" dirty="0"/>
              <a:t>Its like - </a:t>
            </a:r>
          </a:p>
          <a:p>
            <a:r>
              <a:rPr lang="en-IN" sz="2400" dirty="0"/>
              <a:t>A copy of your project </a:t>
            </a:r>
          </a:p>
          <a:p>
            <a:r>
              <a:rPr lang="en-IN" sz="2400" dirty="0"/>
              <a:t>Where you can experiment safely </a:t>
            </a:r>
          </a:p>
          <a:p>
            <a:r>
              <a:rPr lang="en-IN" sz="2400" dirty="0"/>
              <a:t>Without affecting the main project</a:t>
            </a:r>
          </a:p>
        </p:txBody>
      </p:sp>
    </p:spTree>
    <p:extLst>
      <p:ext uri="{BB962C8B-B14F-4D97-AF65-F5344CB8AC3E}">
        <p14:creationId xmlns:p14="http://schemas.microsoft.com/office/powerpoint/2010/main" val="277424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E3943-8BEC-0A54-AB95-8247C9BC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8C34-BBCD-3CA8-6E34-B1094D64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F3021-E2A6-C48D-580F-0B0BE1AED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5" y="728598"/>
            <a:ext cx="10992621" cy="580642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Branch Commands</a:t>
            </a:r>
          </a:p>
          <a:p>
            <a:r>
              <a:rPr lang="en-IN" dirty="0"/>
              <a:t>Creating a new branch		</a:t>
            </a:r>
            <a:r>
              <a:rPr lang="en-IN" dirty="0">
                <a:solidFill>
                  <a:srgbClr val="7030A0"/>
                </a:solidFill>
              </a:rPr>
              <a:t>git branch </a:t>
            </a:r>
            <a:r>
              <a:rPr lang="en-IN" i="1" dirty="0">
                <a:solidFill>
                  <a:srgbClr val="7030A0"/>
                </a:solidFill>
              </a:rPr>
              <a:t>&lt;branch-name&gt;</a:t>
            </a:r>
          </a:p>
          <a:p>
            <a:endParaRPr lang="en-IN" dirty="0"/>
          </a:p>
          <a:p>
            <a:r>
              <a:rPr lang="en-IN" dirty="0"/>
              <a:t>List branches			</a:t>
            </a:r>
            <a:r>
              <a:rPr lang="en-IN" dirty="0">
                <a:solidFill>
                  <a:srgbClr val="7030A0"/>
                </a:solidFill>
              </a:rPr>
              <a:t>git branch</a:t>
            </a:r>
          </a:p>
          <a:p>
            <a:pPr marL="457200" lvl="1" indent="0">
              <a:buNone/>
            </a:pPr>
            <a:r>
              <a:rPr lang="en-IN" dirty="0"/>
              <a:t>* indicates current branch.</a:t>
            </a:r>
          </a:p>
          <a:p>
            <a:endParaRPr lang="en-IN" dirty="0"/>
          </a:p>
          <a:p>
            <a:pPr>
              <a:spcAft>
                <a:spcPts val="1200"/>
              </a:spcAft>
            </a:pPr>
            <a:r>
              <a:rPr lang="en-IN" dirty="0"/>
              <a:t>Switch branch			</a:t>
            </a:r>
            <a:r>
              <a:rPr lang="en-IN" dirty="0">
                <a:solidFill>
                  <a:srgbClr val="7030A0"/>
                </a:solidFill>
              </a:rPr>
              <a:t>git switch </a:t>
            </a:r>
            <a:r>
              <a:rPr lang="en-IN" i="1" dirty="0">
                <a:solidFill>
                  <a:srgbClr val="7030A0"/>
                </a:solidFill>
              </a:rPr>
              <a:t>&lt;branch-name&gt;</a:t>
            </a:r>
          </a:p>
          <a:p>
            <a:pPr>
              <a:spcAft>
                <a:spcPts val="1200"/>
              </a:spcAft>
            </a:pPr>
            <a:r>
              <a:rPr lang="en-IN" dirty="0"/>
              <a:t>Create and Switch together		</a:t>
            </a:r>
            <a:r>
              <a:rPr lang="en-IN" dirty="0">
                <a:solidFill>
                  <a:srgbClr val="7030A0"/>
                </a:solidFill>
              </a:rPr>
              <a:t>git switch -c </a:t>
            </a:r>
            <a:r>
              <a:rPr lang="en-IN" i="1" dirty="0">
                <a:solidFill>
                  <a:srgbClr val="7030A0"/>
                </a:solidFill>
              </a:rPr>
              <a:t>&lt;branch-name&gt;</a:t>
            </a:r>
          </a:p>
          <a:p>
            <a:r>
              <a:rPr lang="en-IN" i="1" dirty="0"/>
              <a:t>Merge branch			</a:t>
            </a:r>
            <a:r>
              <a:rPr lang="en-IN" i="1" dirty="0">
                <a:solidFill>
                  <a:srgbClr val="7030A0"/>
                </a:solidFill>
              </a:rPr>
              <a:t>git merge &lt;branch-name&gt;</a:t>
            </a:r>
          </a:p>
          <a:p>
            <a:pPr lvl="1">
              <a:spcAft>
                <a:spcPts val="1200"/>
              </a:spcAft>
            </a:pPr>
            <a:r>
              <a:rPr lang="en-IN" dirty="0"/>
              <a:t>The current branch receives the merge.</a:t>
            </a:r>
            <a:endParaRPr lang="en-IN" i="1" dirty="0"/>
          </a:p>
          <a:p>
            <a:pPr>
              <a:spcAft>
                <a:spcPts val="1200"/>
              </a:spcAft>
            </a:pPr>
            <a:r>
              <a:rPr lang="en-IN" i="1" dirty="0"/>
              <a:t>Delete branch			</a:t>
            </a:r>
            <a:r>
              <a:rPr lang="en-IN" dirty="0">
                <a:solidFill>
                  <a:srgbClr val="7030A0"/>
                </a:solidFill>
              </a:rPr>
              <a:t>git branch –d </a:t>
            </a:r>
            <a:r>
              <a:rPr lang="en-IN" i="1" dirty="0">
                <a:solidFill>
                  <a:srgbClr val="7030A0"/>
                </a:solidFill>
              </a:rPr>
              <a:t>&lt;branch-name&gt;</a:t>
            </a:r>
          </a:p>
          <a:p>
            <a:pPr>
              <a:spcAft>
                <a:spcPts val="1200"/>
              </a:spcAft>
            </a:pPr>
            <a:r>
              <a:rPr lang="en-IN" i="1" dirty="0"/>
              <a:t>View graph				</a:t>
            </a:r>
            <a:r>
              <a:rPr lang="en-IN" dirty="0">
                <a:solidFill>
                  <a:srgbClr val="7030A0"/>
                </a:solidFill>
              </a:rPr>
              <a:t>git log --graph --all</a:t>
            </a:r>
            <a:endParaRPr lang="en-IN" i="1" dirty="0">
              <a:solidFill>
                <a:srgbClr val="7030A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4AFDF1-FD42-712C-9B77-FA8F3E3C3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637" y="1615668"/>
            <a:ext cx="5372973" cy="168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50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CF755-880D-2D56-987E-8BA8113E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E679-F5E6-6E32-DB4C-92031BE5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- Branch and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6E582-5C53-BC36-C3DC-9FAC3BBA7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160401" cy="5806426"/>
          </a:xfrm>
        </p:spPr>
        <p:txBody>
          <a:bodyPr/>
          <a:lstStyle/>
          <a:p>
            <a:r>
              <a:rPr lang="en-IN" dirty="0"/>
              <a:t>Step 1</a:t>
            </a:r>
          </a:p>
          <a:p>
            <a:pPr lvl="1"/>
            <a:r>
              <a:rPr lang="en-IN" dirty="0"/>
              <a:t>Create a project folder</a:t>
            </a:r>
          </a:p>
          <a:p>
            <a:pPr lvl="1"/>
            <a:r>
              <a:rPr lang="en-IN" dirty="0"/>
              <a:t>git </a:t>
            </a:r>
            <a:r>
              <a:rPr lang="en-IN" dirty="0" err="1"/>
              <a:t>init</a:t>
            </a:r>
            <a:endParaRPr lang="en-IN" dirty="0"/>
          </a:p>
          <a:p>
            <a:pPr lvl="1"/>
            <a:r>
              <a:rPr lang="en-IN" dirty="0"/>
              <a:t>Create file – index.txt, write content </a:t>
            </a:r>
          </a:p>
          <a:p>
            <a:pPr marL="457200" lvl="1" indent="0">
              <a:buNone/>
            </a:pPr>
            <a:r>
              <a:rPr lang="en-IN" sz="1800" i="1" dirty="0">
                <a:latin typeface="Consolas" panose="020B0609020204030204" pitchFamily="49" charset="0"/>
              </a:rPr>
              <a:t>		Student Management System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add index.txt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commit –m “Initial Project”</a:t>
            </a:r>
          </a:p>
          <a:p>
            <a:pPr lvl="1"/>
            <a:endParaRPr lang="en-IN" dirty="0"/>
          </a:p>
          <a:p>
            <a:r>
              <a:rPr lang="en-IN" dirty="0"/>
              <a:t>Step 2</a:t>
            </a:r>
          </a:p>
          <a:p>
            <a:pPr lvl="1"/>
            <a:r>
              <a:rPr lang="en-IN" dirty="0"/>
              <a:t>Create Login Branch	</a:t>
            </a:r>
            <a:r>
              <a:rPr lang="en-IN" dirty="0">
                <a:solidFill>
                  <a:srgbClr val="7030A0"/>
                </a:solidFill>
              </a:rPr>
              <a:t>git branch login</a:t>
            </a:r>
          </a:p>
          <a:p>
            <a:pPr lvl="1"/>
            <a:r>
              <a:rPr lang="en-IN" dirty="0"/>
              <a:t>Switch into login		</a:t>
            </a:r>
            <a:r>
              <a:rPr lang="en-IN" dirty="0">
                <a:solidFill>
                  <a:srgbClr val="7030A0"/>
                </a:solidFill>
              </a:rPr>
              <a:t>git switch login</a:t>
            </a:r>
          </a:p>
          <a:p>
            <a:pPr lvl="1"/>
            <a:r>
              <a:rPr lang="en-IN" dirty="0"/>
              <a:t>Modify the index.txt,</a:t>
            </a:r>
          </a:p>
          <a:p>
            <a:pPr marL="457200" lvl="1" indent="0">
              <a:buNone/>
            </a:pPr>
            <a:r>
              <a:rPr lang="en-IN" sz="1800" i="1" dirty="0">
                <a:latin typeface="Consolas" panose="020B0609020204030204" pitchFamily="49" charset="0"/>
              </a:rPr>
              <a:t>		Student Management System</a:t>
            </a:r>
          </a:p>
          <a:p>
            <a:pPr marL="457200" lvl="1" indent="0">
              <a:buNone/>
            </a:pPr>
            <a:endParaRPr lang="en-IN" sz="1800" i="1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IN" sz="1800" i="1" dirty="0">
                <a:latin typeface="Consolas" panose="020B0609020204030204" pitchFamily="49" charset="0"/>
              </a:rPr>
              <a:t>		Login Module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add index.txt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commit –m “Added Login Module”</a:t>
            </a:r>
          </a:p>
        </p:txBody>
      </p:sp>
    </p:spTree>
    <p:extLst>
      <p:ext uri="{BB962C8B-B14F-4D97-AF65-F5344CB8AC3E}">
        <p14:creationId xmlns:p14="http://schemas.microsoft.com/office/powerpoint/2010/main" val="36937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0C58-FE19-6012-22E0-F6B93697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96F9-397C-5F7F-8EC5-F84CB24D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- Branch and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B11F7-A192-2221-AA9D-75457CFEF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160401" cy="5806426"/>
          </a:xfrm>
        </p:spPr>
        <p:txBody>
          <a:bodyPr/>
          <a:lstStyle/>
          <a:p>
            <a:r>
              <a:rPr lang="en-IN" dirty="0"/>
              <a:t>Step 3</a:t>
            </a:r>
          </a:p>
          <a:p>
            <a:pPr lvl="1"/>
            <a:r>
              <a:rPr lang="en-IN" dirty="0"/>
              <a:t>Switch into master branch </a:t>
            </a:r>
          </a:p>
          <a:p>
            <a:pPr lvl="1"/>
            <a:r>
              <a:rPr lang="en-IN" dirty="0"/>
              <a:t>Check the file content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Step 4</a:t>
            </a:r>
          </a:p>
          <a:p>
            <a:pPr lvl="1"/>
            <a:r>
              <a:rPr lang="en-IN" dirty="0"/>
              <a:t>Create &amp; Switch Payment Branch		</a:t>
            </a:r>
            <a:r>
              <a:rPr lang="en-IN" dirty="0">
                <a:solidFill>
                  <a:srgbClr val="7030A0"/>
                </a:solidFill>
              </a:rPr>
              <a:t>git switch –c payment</a:t>
            </a:r>
          </a:p>
          <a:p>
            <a:pPr lvl="1"/>
            <a:r>
              <a:rPr lang="en-IN" dirty="0"/>
              <a:t>Modify the index.txt,</a:t>
            </a:r>
          </a:p>
          <a:p>
            <a:pPr marL="457200" lvl="1" indent="0">
              <a:buNone/>
            </a:pPr>
            <a:r>
              <a:rPr lang="en-IN" sz="1800" i="1" dirty="0">
                <a:latin typeface="Consolas" panose="020B0609020204030204" pitchFamily="49" charset="0"/>
              </a:rPr>
              <a:t>		</a:t>
            </a: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Student Management System</a:t>
            </a:r>
          </a:p>
          <a:p>
            <a:pPr marL="457200" lvl="1" indent="0">
              <a:buNone/>
            </a:pPr>
            <a:endParaRPr lang="en-IN" sz="1800" i="1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IN" sz="1800" i="1" dirty="0">
                <a:latin typeface="Consolas" panose="020B0609020204030204" pitchFamily="49" charset="0"/>
              </a:rPr>
              <a:t>		</a:t>
            </a: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Payment Module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add index.txt</a:t>
            </a:r>
          </a:p>
          <a:p>
            <a:pPr lvl="1"/>
            <a:r>
              <a:rPr lang="en-IN" dirty="0">
                <a:solidFill>
                  <a:srgbClr val="7030A0"/>
                </a:solidFill>
              </a:rPr>
              <a:t>git commit –m “Added Login Module”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dirty="0"/>
              <a:t>Step 5 - View Graph</a:t>
            </a:r>
          </a:p>
          <a:p>
            <a:pPr marL="598488" lvl="2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000" dirty="0">
                <a:solidFill>
                  <a:srgbClr val="7030A0"/>
                </a:solidFill>
              </a:rPr>
              <a:t>git log --</a:t>
            </a:r>
            <a:r>
              <a:rPr lang="en-IN" sz="2000" dirty="0" err="1">
                <a:solidFill>
                  <a:srgbClr val="7030A0"/>
                </a:solidFill>
              </a:rPr>
              <a:t>oneline</a:t>
            </a:r>
            <a:r>
              <a:rPr lang="en-IN" sz="2000" dirty="0">
                <a:solidFill>
                  <a:srgbClr val="7030A0"/>
                </a:solidFill>
              </a:rPr>
              <a:t> --graph --all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AE540-080C-5DA3-30E5-185C848E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72" y="4410394"/>
            <a:ext cx="7033870" cy="200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4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D12E3-2E24-82AC-D894-8C6C7659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5B54-C846-379D-55FF-53AE4279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 - Branch and Merge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C41F7-AC0E-9216-9001-BA235ABDC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160401" cy="5806426"/>
          </a:xfrm>
        </p:spPr>
        <p:txBody>
          <a:bodyPr/>
          <a:lstStyle/>
          <a:p>
            <a:r>
              <a:rPr lang="en-IN" dirty="0"/>
              <a:t>Step 6 - Merge Login Branch</a:t>
            </a:r>
          </a:p>
          <a:p>
            <a:pPr lvl="1"/>
            <a:r>
              <a:rPr lang="en-IN" dirty="0"/>
              <a:t>Switch into master branch		</a:t>
            </a:r>
            <a:r>
              <a:rPr lang="en-IN" dirty="0">
                <a:solidFill>
                  <a:srgbClr val="7030A0"/>
                </a:solidFill>
              </a:rPr>
              <a:t>git switch master</a:t>
            </a:r>
          </a:p>
          <a:p>
            <a:pPr lvl="1"/>
            <a:r>
              <a:rPr lang="en-IN" dirty="0"/>
              <a:t>Merge				</a:t>
            </a:r>
            <a:r>
              <a:rPr lang="en-IN" dirty="0">
                <a:solidFill>
                  <a:srgbClr val="7030A0"/>
                </a:solidFill>
              </a:rPr>
              <a:t>git merge login</a:t>
            </a:r>
          </a:p>
          <a:p>
            <a:pPr lvl="1"/>
            <a:r>
              <a:rPr lang="en-IN" dirty="0"/>
              <a:t>Project After Merge – Check File content</a:t>
            </a:r>
          </a:p>
          <a:p>
            <a:pPr marL="457200" lvl="1" indent="0">
              <a:buNone/>
            </a:pPr>
            <a:r>
              <a:rPr lang="en-IN" dirty="0"/>
              <a:t>		</a:t>
            </a:r>
            <a:r>
              <a:rPr lang="en-IN" i="1" dirty="0">
                <a:solidFill>
                  <a:srgbClr val="0070C0"/>
                </a:solidFill>
                <a:latin typeface="Consolas" panose="020B0609020204030204" pitchFamily="49" charset="0"/>
              </a:rPr>
              <a:t>Student Management System</a:t>
            </a:r>
          </a:p>
          <a:p>
            <a:pPr marL="457200" lvl="1" indent="0">
              <a:buNone/>
            </a:pPr>
            <a:endParaRPr lang="en-IN" i="1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IN" i="1" dirty="0">
                <a:latin typeface="Consolas" panose="020B0609020204030204" pitchFamily="49" charset="0"/>
              </a:rPr>
              <a:t>		</a:t>
            </a:r>
            <a:r>
              <a:rPr lang="en-IN" i="1" dirty="0">
                <a:solidFill>
                  <a:srgbClr val="0070C0"/>
                </a:solidFill>
                <a:latin typeface="Consolas" panose="020B0609020204030204" pitchFamily="49" charset="0"/>
              </a:rPr>
              <a:t>Login Module </a:t>
            </a:r>
          </a:p>
          <a:p>
            <a:pPr marL="457200" lvl="1" indent="0">
              <a:buNone/>
            </a:pPr>
            <a:endParaRPr lang="en-IN" i="1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IN" dirty="0"/>
              <a:t>Step 7 – Merge Payment Branch</a:t>
            </a:r>
          </a:p>
          <a:p>
            <a:pPr lvl="1"/>
            <a:r>
              <a:rPr lang="en-IN" dirty="0"/>
              <a:t>Merge 				</a:t>
            </a:r>
            <a:r>
              <a:rPr lang="en-IN" dirty="0">
                <a:solidFill>
                  <a:srgbClr val="7030A0"/>
                </a:solidFill>
              </a:rPr>
              <a:t>git merge </a:t>
            </a:r>
            <a:r>
              <a:rPr lang="en-IN" dirty="0" err="1">
                <a:solidFill>
                  <a:srgbClr val="7030A0"/>
                </a:solidFill>
              </a:rPr>
              <a:t>paymemt</a:t>
            </a:r>
            <a:endParaRPr lang="en-IN" dirty="0">
              <a:solidFill>
                <a:srgbClr val="7030A0"/>
              </a:solidFill>
            </a:endParaRPr>
          </a:p>
          <a:p>
            <a:pPr lvl="1"/>
            <a:r>
              <a:rPr lang="en-IN" dirty="0"/>
              <a:t>Result 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	</a:t>
            </a:r>
            <a:r>
              <a:rPr lang="en-IN" dirty="0">
                <a:solidFill>
                  <a:srgbClr val="FF0000"/>
                </a:solidFill>
                <a:highlight>
                  <a:srgbClr val="FFFF00"/>
                </a:highlight>
              </a:rPr>
              <a:t>CONFLICT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630E23-0F38-5584-9D3B-7EF562769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954" y="4432306"/>
            <a:ext cx="7580988" cy="146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3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FE232-5D8C-7242-8962-1241CE1C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C043-76CC-E674-AF0C-D49B976EB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Merge Conflict?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E0839-8684-BBA3-5A01-567630304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160401" cy="5806426"/>
          </a:xfrm>
        </p:spPr>
        <p:txBody>
          <a:bodyPr/>
          <a:lstStyle/>
          <a:p>
            <a:r>
              <a:rPr lang="en-IN" dirty="0"/>
              <a:t>Occurs when Two branches modify the same line or nearby lines</a:t>
            </a:r>
          </a:p>
          <a:p>
            <a:r>
              <a:rPr lang="en-IN" dirty="0"/>
              <a:t>Git cannot decide.</a:t>
            </a:r>
          </a:p>
          <a:p>
            <a:r>
              <a:rPr lang="en-IN" dirty="0"/>
              <a:t>Developer must choose.			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Resolve Conflict </a:t>
            </a:r>
          </a:p>
          <a:p>
            <a:r>
              <a:rPr lang="en-IN" dirty="0"/>
              <a:t>Final File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i="1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Student Management System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	Login Module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1800" i="1" dirty="0">
                <a:solidFill>
                  <a:srgbClr val="0070C0"/>
                </a:solidFill>
                <a:latin typeface="Consolas" panose="020B0609020204030204" pitchFamily="49" charset="0"/>
              </a:rPr>
              <a:t>	Payment Module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812C53-AAC9-DCFD-B47D-65C10D0E5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922" y="1589720"/>
            <a:ext cx="3577522" cy="24148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1D5630-D03F-292D-B1C5-90272BF83672}"/>
              </a:ext>
            </a:extLst>
          </p:cNvPr>
          <p:cNvSpPr txBox="1"/>
          <p:nvPr/>
        </p:nvSpPr>
        <p:spPr>
          <a:xfrm>
            <a:off x="7788444" y="2774621"/>
            <a:ext cx="1728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Conflict Example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BDE96-52C3-682A-1798-E98812112A04}"/>
              </a:ext>
            </a:extLst>
          </p:cNvPr>
          <p:cNvSpPr txBox="1"/>
          <p:nvPr/>
        </p:nvSpPr>
        <p:spPr>
          <a:xfrm>
            <a:off x="7587740" y="4559742"/>
            <a:ext cx="3858124" cy="1624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Save</a:t>
            </a:r>
          </a:p>
          <a:p>
            <a:r>
              <a:rPr lang="en-IN" sz="2400" dirty="0"/>
              <a:t>		git  add</a:t>
            </a:r>
          </a:p>
          <a:p>
            <a:r>
              <a:rPr lang="en-IN" sz="2400" dirty="0"/>
              <a:t>		git  commit</a:t>
            </a:r>
          </a:p>
          <a:p>
            <a:pPr marL="265113" indent="-265113" algn="just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</a:pPr>
            <a:r>
              <a:rPr lang="en-IN" sz="2400" dirty="0"/>
              <a:t>Merge Completed.</a:t>
            </a:r>
          </a:p>
        </p:txBody>
      </p:sp>
    </p:spTree>
    <p:extLst>
      <p:ext uri="{BB962C8B-B14F-4D97-AF65-F5344CB8AC3E}">
        <p14:creationId xmlns:p14="http://schemas.microsoft.com/office/powerpoint/2010/main" val="154163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776A-92A0-1814-519C-E40008748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14E74-703C-762A-5789-4115FB126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Branch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EB60B-B06D-5CD7-E527-64336DDD7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160401" cy="5806426"/>
          </a:xfrm>
        </p:spPr>
        <p:txBody>
          <a:bodyPr/>
          <a:lstStyle/>
          <a:p>
            <a:r>
              <a:rPr lang="en-IN" dirty="0"/>
              <a:t>After successful merge</a:t>
            </a:r>
          </a:p>
          <a:p>
            <a:pPr lvl="1"/>
            <a:r>
              <a:rPr lang="en-IN" dirty="0"/>
              <a:t>git branch -d login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git branch -d payment</a:t>
            </a:r>
            <a:endParaRPr lang="en-I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39887B-EC92-461E-A82B-E5351E00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698" y="1245429"/>
            <a:ext cx="6868193" cy="440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8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9061-6504-944A-3ED3-EA04FC81E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1CD210-2530-9299-3FC2-D6694F0110CF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9DEABE-75B9-61FE-E8E2-A9617667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Github</a:t>
            </a:r>
            <a:r>
              <a:rPr lang="en-IN" dirty="0"/>
              <a:t> &amp; remote collaborations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78EDB-A9AB-0392-076B-A834B3BC9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F487E"/>
                </a:solidFill>
              </a:rPr>
              <a:t>Section - 4</a:t>
            </a:r>
          </a:p>
        </p:txBody>
      </p:sp>
    </p:spTree>
    <p:extLst>
      <p:ext uri="{BB962C8B-B14F-4D97-AF65-F5344CB8AC3E}">
        <p14:creationId xmlns:p14="http://schemas.microsoft.com/office/powerpoint/2010/main" val="183306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E5A9-896F-B623-07CC-2BB62533D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7C2D-E204-B2BB-CCBD-494EDBE7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C1DB0-E60D-4E20-A076-F632045CF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11420460" cy="5806426"/>
          </a:xfrm>
        </p:spPr>
        <p:txBody>
          <a:bodyPr/>
          <a:lstStyle/>
          <a:p>
            <a:r>
              <a:rPr lang="en-US" dirty="0"/>
              <a:t>GitHub is a cloud-based platform that hosts Git repositories.</a:t>
            </a:r>
          </a:p>
          <a:p>
            <a:r>
              <a:rPr lang="en-IN" dirty="0"/>
              <a:t>It provides:</a:t>
            </a:r>
          </a:p>
          <a:p>
            <a:pPr lvl="1"/>
            <a:r>
              <a:rPr lang="en-US" dirty="0"/>
              <a:t>Remote storage</a:t>
            </a:r>
          </a:p>
          <a:p>
            <a:pPr lvl="1"/>
            <a:r>
              <a:rPr lang="en-US" dirty="0"/>
              <a:t>Team collaboration</a:t>
            </a:r>
          </a:p>
          <a:p>
            <a:pPr lvl="1"/>
            <a:r>
              <a:rPr lang="en-US" dirty="0"/>
              <a:t>Version history</a:t>
            </a:r>
          </a:p>
          <a:p>
            <a:pPr lvl="1"/>
            <a:r>
              <a:rPr lang="en-US" dirty="0"/>
              <a:t>Pull Requests</a:t>
            </a:r>
          </a:p>
          <a:p>
            <a:pPr lvl="1"/>
            <a:r>
              <a:rPr lang="en-US" dirty="0"/>
              <a:t>Issue Tracking</a:t>
            </a:r>
          </a:p>
          <a:p>
            <a:pPr lvl="1"/>
            <a:r>
              <a:rPr lang="en-US" dirty="0"/>
              <a:t>Project Management</a:t>
            </a:r>
          </a:p>
          <a:p>
            <a:pPr lvl="1"/>
            <a:r>
              <a:rPr lang="en-US" dirty="0"/>
              <a:t>CI/CD Integration</a:t>
            </a:r>
          </a:p>
          <a:p>
            <a:pPr lvl="1"/>
            <a:endParaRPr lang="en-IN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Git = Version Control</a:t>
            </a:r>
          </a:p>
          <a:p>
            <a:pPr marL="0" indent="0">
              <a:buNone/>
            </a:pPr>
            <a:r>
              <a:rPr lang="en-IN" b="1" dirty="0"/>
              <a:t>GitHub = Cloud Platform for Git Repositories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2790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C0BF7-A14B-6296-BCA0-33697BBC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20377-1F41-FE86-A710-5E09F686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GitHub?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E975-2496-528C-73C5-64DCB0B6C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04" y="728598"/>
            <a:ext cx="4516321" cy="512825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Without GitHub</a:t>
            </a:r>
          </a:p>
          <a:p>
            <a:pPr lvl="0"/>
            <a:r>
              <a:rPr lang="en-IN" dirty="0"/>
              <a:t>Code remains on one computer </a:t>
            </a:r>
          </a:p>
          <a:p>
            <a:pPr lvl="0"/>
            <a:r>
              <a:rPr lang="en-IN" dirty="0"/>
              <a:t>Difficult to collaborate </a:t>
            </a:r>
          </a:p>
          <a:p>
            <a:pPr lvl="0"/>
            <a:r>
              <a:rPr lang="en-IN" dirty="0"/>
              <a:t>No online backup </a:t>
            </a:r>
          </a:p>
          <a:p>
            <a:pPr lvl="0"/>
            <a:r>
              <a:rPr lang="en-IN" dirty="0"/>
              <a:t>Sharing is difficult </a:t>
            </a:r>
          </a:p>
          <a:p>
            <a:pPr marL="0" indent="0">
              <a:buNone/>
            </a:pPr>
            <a:r>
              <a:rPr lang="en-IN" b="1" dirty="0"/>
              <a:t>With GitHub</a:t>
            </a:r>
          </a:p>
          <a:p>
            <a:pPr lvl="0"/>
            <a:r>
              <a:rPr lang="en-IN" dirty="0"/>
              <a:t>Access from anywhere </a:t>
            </a:r>
          </a:p>
          <a:p>
            <a:pPr lvl="0"/>
            <a:r>
              <a:rPr lang="en-IN" dirty="0"/>
              <a:t>Team collaboration </a:t>
            </a:r>
          </a:p>
          <a:p>
            <a:pPr lvl="0"/>
            <a:r>
              <a:rPr lang="en-IN" dirty="0"/>
              <a:t>Secure backup </a:t>
            </a:r>
          </a:p>
          <a:p>
            <a:pPr lvl="0"/>
            <a:r>
              <a:rPr lang="en-IN" dirty="0"/>
              <a:t>Easy code sharing </a:t>
            </a:r>
          </a:p>
          <a:p>
            <a:pPr lvl="0"/>
            <a:r>
              <a:rPr lang="en-IN" dirty="0"/>
              <a:t>Open Source contribution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6566BE-A831-6F57-3150-66CAEACF4D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775541"/>
              </p:ext>
            </p:extLst>
          </p:nvPr>
        </p:nvGraphicFramePr>
        <p:xfrm>
          <a:off x="4655891" y="980890"/>
          <a:ext cx="74084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205">
                  <a:extLst>
                    <a:ext uri="{9D8B030D-6E8A-4147-A177-3AD203B41FA5}">
                      <a16:colId xmlns:a16="http://schemas.microsoft.com/office/drawing/2014/main" val="4272534292"/>
                    </a:ext>
                  </a:extLst>
                </a:gridCol>
                <a:gridCol w="3704205">
                  <a:extLst>
                    <a:ext uri="{9D8B030D-6E8A-4147-A177-3AD203B41FA5}">
                      <a16:colId xmlns:a16="http://schemas.microsoft.com/office/drawing/2014/main" val="1520912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Git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GitHub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76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Version Control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Cloud Hosting Platform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259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Works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Works online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34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Tracks file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Stores Git repositories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9922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Command Line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Web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978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No Internet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Internet required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1905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D66438-329F-E1E3-AE0B-90855B47C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500650"/>
              </p:ext>
            </p:extLst>
          </p:nvPr>
        </p:nvGraphicFramePr>
        <p:xfrm>
          <a:off x="4655891" y="4048790"/>
          <a:ext cx="740841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8542">
                  <a:extLst>
                    <a:ext uri="{9D8B030D-6E8A-4147-A177-3AD203B41FA5}">
                      <a16:colId xmlns:a16="http://schemas.microsoft.com/office/drawing/2014/main" val="425898809"/>
                    </a:ext>
                  </a:extLst>
                </a:gridCol>
                <a:gridCol w="3859868">
                  <a:extLst>
                    <a:ext uri="{9D8B030D-6E8A-4147-A177-3AD203B41FA5}">
                      <a16:colId xmlns:a16="http://schemas.microsoft.com/office/drawing/2014/main" val="2311540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Local Repository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Remote Repository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42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Stored on your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Stored on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96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Fast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Accessible by team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83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Private to your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Used for collaboration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5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427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58AED-CD6E-AFE0-D926-62842FAD5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BFC8-6696-958F-2DB2-F4B6FB18E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5712904" cy="711200"/>
          </a:xfrm>
        </p:spPr>
        <p:txBody>
          <a:bodyPr>
            <a:normAutofit/>
          </a:bodyPr>
          <a:lstStyle/>
          <a:p>
            <a:r>
              <a:rPr lang="en-IN" dirty="0"/>
              <a:t>GitHub Workflow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6E622-1C1E-E2AD-11EC-4B07FB7D2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34704"/>
            <a:ext cx="4516321" cy="299067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Steps</a:t>
            </a:r>
          </a:p>
          <a:p>
            <a:pPr lvl="0"/>
            <a:r>
              <a:rPr lang="en-IN" dirty="0"/>
              <a:t>Login GitHub </a:t>
            </a:r>
          </a:p>
          <a:p>
            <a:pPr lvl="0"/>
            <a:r>
              <a:rPr lang="en-IN" dirty="0"/>
              <a:t>Click New Repository </a:t>
            </a:r>
          </a:p>
          <a:p>
            <a:pPr lvl="0"/>
            <a:r>
              <a:rPr lang="en-IN" dirty="0"/>
              <a:t>Enter repository name </a:t>
            </a:r>
          </a:p>
          <a:p>
            <a:pPr lvl="0"/>
            <a:r>
              <a:rPr lang="en-IN" dirty="0"/>
              <a:t>Select Public or Private </a:t>
            </a:r>
          </a:p>
          <a:p>
            <a:pPr lvl="0"/>
            <a:r>
              <a:rPr lang="en-IN" dirty="0"/>
              <a:t>Create Repository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61B981-F7DA-9650-9AD7-DD9311B93ACA}"/>
              </a:ext>
            </a:extLst>
          </p:cNvPr>
          <p:cNvSpPr txBox="1"/>
          <p:nvPr/>
        </p:nvSpPr>
        <p:spPr>
          <a:xfrm>
            <a:off x="310393" y="834704"/>
            <a:ext cx="279353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Create Repository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Clone Repository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Write Code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git add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git commit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git push</a:t>
            </a:r>
          </a:p>
          <a:p>
            <a:pPr algn="ctr"/>
            <a:r>
              <a:rPr lang="en-IN" sz="2400" dirty="0"/>
              <a:t>↓</a:t>
            </a:r>
          </a:p>
          <a:p>
            <a:pPr algn="ctr"/>
            <a:r>
              <a:rPr lang="en-IN" sz="2400" dirty="0"/>
              <a:t>GitHub Updated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AB6F39-35F8-97E5-5084-5598AA1335CC}"/>
              </a:ext>
            </a:extLst>
          </p:cNvPr>
          <p:cNvSpPr txBox="1">
            <a:spLocks/>
          </p:cNvSpPr>
          <p:nvPr/>
        </p:nvSpPr>
        <p:spPr>
          <a:xfrm>
            <a:off x="5712904" y="1"/>
            <a:ext cx="6409188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Create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38066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5F39-93C7-A42B-58F8-021A0070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7EC6-C64D-034A-9440-67458C84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Important Terminology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F772E9-47DD-AA5C-E2AB-0BC4E6E2D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Repository (Repo)</a:t>
            </a:r>
          </a:p>
          <a:p>
            <a:pPr lvl="1"/>
            <a:r>
              <a:rPr lang="en-IN" dirty="0"/>
              <a:t>A repository is a storage location that contains the project files and complete Git history.</a:t>
            </a:r>
          </a:p>
          <a:p>
            <a:r>
              <a:rPr lang="en-IN" dirty="0"/>
              <a:t>Local Repository</a:t>
            </a:r>
          </a:p>
          <a:p>
            <a:pPr lvl="1"/>
            <a:r>
              <a:rPr lang="en-IN" dirty="0"/>
              <a:t>Stored on your computer.</a:t>
            </a:r>
          </a:p>
          <a:p>
            <a:r>
              <a:rPr lang="en-IN" dirty="0"/>
              <a:t>Remote Repository</a:t>
            </a:r>
          </a:p>
          <a:p>
            <a:pPr lvl="1"/>
            <a:r>
              <a:rPr lang="en-IN" dirty="0"/>
              <a:t>Stored on GitHub.</a:t>
            </a:r>
          </a:p>
          <a:p>
            <a:r>
              <a:rPr lang="en-IN" dirty="0"/>
              <a:t>Owner</a:t>
            </a:r>
          </a:p>
          <a:p>
            <a:pPr lvl="1"/>
            <a:r>
              <a:rPr lang="en-IN" dirty="0"/>
              <a:t>The person who created the repository.</a:t>
            </a:r>
          </a:p>
          <a:p>
            <a:r>
              <a:rPr lang="en-IN" dirty="0"/>
              <a:t>Collaborator</a:t>
            </a:r>
          </a:p>
          <a:p>
            <a:pPr lvl="1"/>
            <a:r>
              <a:rPr lang="en-IN" dirty="0"/>
              <a:t>A person who has permission to contribute to the repository.</a:t>
            </a:r>
          </a:p>
          <a:p>
            <a:r>
              <a:rPr lang="en-IN" dirty="0"/>
              <a:t>Public Repository</a:t>
            </a:r>
          </a:p>
          <a:p>
            <a:pPr lvl="1"/>
            <a:r>
              <a:rPr lang="en-US" dirty="0"/>
              <a:t>Anyone can: View code, Clone repository, Download project</a:t>
            </a:r>
          </a:p>
          <a:p>
            <a:pPr lvl="1"/>
            <a:r>
              <a:rPr lang="en-US" dirty="0"/>
              <a:t>Suitable for Open-source projects, Student portfolios.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0598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2F181-B6C6-99B3-686F-9E2FC5F3D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85E8C-DDBB-B22B-22BA-E3D095BB4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Important Terminology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CCF3E5-AF93-6C3D-3666-AA94C2537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Private Repository</a:t>
            </a:r>
          </a:p>
          <a:p>
            <a:pPr lvl="1"/>
            <a:r>
              <a:rPr lang="en-US" dirty="0"/>
              <a:t>Only authorized users can access the project.</a:t>
            </a:r>
          </a:p>
          <a:p>
            <a:pPr lvl="1"/>
            <a:r>
              <a:rPr lang="en-US" dirty="0"/>
              <a:t>Suitable for Company projects, Client work, Confidential code</a:t>
            </a:r>
            <a:endParaRPr lang="en-IN" dirty="0"/>
          </a:p>
          <a:p>
            <a:r>
              <a:rPr lang="en-IN" dirty="0"/>
              <a:t>README.md</a:t>
            </a:r>
          </a:p>
          <a:p>
            <a:pPr lvl="1"/>
            <a:r>
              <a:rPr lang="en-US" dirty="0"/>
              <a:t>When someone opens your project,</a:t>
            </a:r>
          </a:p>
          <a:p>
            <a:pPr lvl="1"/>
            <a:r>
              <a:rPr lang="en-US" dirty="0"/>
              <a:t>How will they know: What is the project? How to install it? Technologies used ? Features?</a:t>
            </a:r>
            <a:endParaRPr lang="en-IN" dirty="0"/>
          </a:p>
          <a:p>
            <a:r>
              <a:rPr lang="en-IN" dirty="0"/>
              <a:t>.</a:t>
            </a:r>
            <a:r>
              <a:rPr lang="en-IN" dirty="0" err="1"/>
              <a:t>gitignore</a:t>
            </a:r>
            <a:endParaRPr lang="en-IN" dirty="0"/>
          </a:p>
          <a:p>
            <a:r>
              <a:rPr lang="en-IN" dirty="0"/>
              <a:t>License</a:t>
            </a:r>
          </a:p>
          <a:p>
            <a:pPr lvl="1"/>
            <a:r>
              <a:rPr lang="en-IN" dirty="0"/>
              <a:t>A License specifies how others may use your code.</a:t>
            </a:r>
          </a:p>
          <a:p>
            <a:r>
              <a:rPr lang="en-IN" dirty="0"/>
              <a:t>GitHub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86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05555-43F1-C076-AA13-BD56D4D0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EF6CA-0D1A-A0D5-6260-99279B8BB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Connecting Local Git with GitHub 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547BF-85AB-AD8A-837C-00A934C8E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Remote Repository?</a:t>
            </a:r>
          </a:p>
          <a:p>
            <a:pPr lvl="1"/>
            <a:r>
              <a:rPr lang="en-IN" dirty="0"/>
              <a:t>A Remote Repository is an online version of a Git repository stored on a server such as GitHub.</a:t>
            </a:r>
          </a:p>
          <a:p>
            <a:r>
              <a:rPr lang="en-IN" dirty="0"/>
              <a:t>What is Origin?</a:t>
            </a:r>
          </a:p>
          <a:p>
            <a:pPr lvl="1"/>
            <a:r>
              <a:rPr lang="en-IN" dirty="0"/>
              <a:t>When we connect GitHub for the first time: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b="1" i="1" dirty="0"/>
              <a:t>git remote add origin URL</a:t>
            </a:r>
          </a:p>
          <a:p>
            <a:pPr lvl="1"/>
            <a:r>
              <a:rPr lang="en-IN" dirty="0"/>
              <a:t>origin is simply a nickname</a:t>
            </a:r>
          </a:p>
          <a:p>
            <a:r>
              <a:rPr lang="en-IN" dirty="0"/>
              <a:t>Verify Remote</a:t>
            </a:r>
          </a:p>
          <a:p>
            <a:pPr marL="457200" lvl="1" indent="0">
              <a:buNone/>
            </a:pPr>
            <a:r>
              <a:rPr lang="en-US" b="1" i="1" dirty="0"/>
              <a:t>		git remote -v</a:t>
            </a:r>
          </a:p>
          <a:p>
            <a:pPr lvl="1"/>
            <a:r>
              <a:rPr lang="en-US" dirty="0"/>
              <a:t>Output: </a:t>
            </a:r>
          </a:p>
          <a:p>
            <a:pPr marL="457200" lvl="1" indent="0">
              <a:buNone/>
            </a:pPr>
            <a:r>
              <a:rPr lang="en-US" dirty="0"/>
              <a:t>		origin  https://github.com/student/demo.git (fetch)	</a:t>
            </a:r>
            <a:r>
              <a:rPr lang="en-US" dirty="0">
                <a:sym typeface="Wingdings" panose="05000000000000000000" pitchFamily="2" charset="2"/>
              </a:rPr>
              <a:t> download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	origin  https://github.com/student/demo.git (push)	</a:t>
            </a:r>
            <a:r>
              <a:rPr lang="en-US" dirty="0">
                <a:sym typeface="Wingdings" panose="05000000000000000000" pitchFamily="2" charset="2"/>
              </a:rPr>
              <a:t> upload</a:t>
            </a:r>
            <a:endParaRPr lang="en-US" dirty="0"/>
          </a:p>
          <a:p>
            <a:r>
              <a:rPr lang="en-US" dirty="0"/>
              <a:t>First Push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b="1" i="1" dirty="0"/>
              <a:t>git push -u origin main</a:t>
            </a:r>
          </a:p>
          <a:p>
            <a:r>
              <a:rPr lang="en-IN" dirty="0"/>
              <a:t>Second Push	</a:t>
            </a:r>
          </a:p>
          <a:p>
            <a:pPr marL="0" indent="0">
              <a:buNone/>
            </a:pPr>
            <a:r>
              <a:rPr lang="en-IN" sz="2000" b="1" i="1" dirty="0"/>
              <a:t>		git push</a:t>
            </a:r>
          </a:p>
        </p:txBody>
      </p:sp>
    </p:spTree>
    <p:extLst>
      <p:ext uri="{BB962C8B-B14F-4D97-AF65-F5344CB8AC3E}">
        <p14:creationId xmlns:p14="http://schemas.microsoft.com/office/powerpoint/2010/main" val="29330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17D03-CE12-2206-3741-4240608A9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6D2BF-B417-C957-C156-AF9A6C202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Connecting Local Git with GitHub 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3B58D-69A5-B271-667F-881E17B9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  <a:p>
            <a:pPr lvl="1"/>
            <a:r>
              <a:rPr lang="en-US" dirty="0"/>
              <a:t>PAT (Personal Access Token)</a:t>
            </a:r>
          </a:p>
          <a:p>
            <a:pPr lvl="2"/>
            <a:r>
              <a:rPr lang="en-US" dirty="0"/>
              <a:t>GitHub: Settings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Developer Settings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Personal Access Tokens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Generate New Token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Permissions: ✔ repo</a:t>
            </a:r>
          </a:p>
          <a:p>
            <a:pPr lvl="2"/>
            <a:r>
              <a:rPr lang="en-US" dirty="0"/>
              <a:t>Copy token safely</a:t>
            </a:r>
          </a:p>
          <a:p>
            <a:pPr lvl="1"/>
            <a:r>
              <a:rPr lang="en-US" dirty="0"/>
              <a:t>SSH Key</a:t>
            </a:r>
          </a:p>
          <a:p>
            <a:pPr lvl="2"/>
            <a:r>
              <a:rPr lang="en-IN" dirty="0"/>
              <a:t>SSH allows secure communication.</a:t>
            </a:r>
          </a:p>
          <a:p>
            <a:pPr marL="914400" lvl="2" indent="0">
              <a:buNone/>
            </a:pPr>
            <a:r>
              <a:rPr lang="de-DE" dirty="0"/>
              <a:t>	ssh-keygen -t ed25519 -C "</a:t>
            </a:r>
            <a:r>
              <a:rPr lang="de-DE" dirty="0">
                <a:hlinkClick r:id="rId2"/>
              </a:rPr>
              <a:t>user_email@gmail.com</a:t>
            </a:r>
            <a:r>
              <a:rPr lang="de-DE" dirty="0"/>
              <a:t>“</a:t>
            </a:r>
          </a:p>
          <a:p>
            <a:pPr lvl="2"/>
            <a:r>
              <a:rPr lang="en-IN" dirty="0"/>
              <a:t>SSH setup is usually done once per computer.</a:t>
            </a:r>
            <a:endParaRPr lang="en-US" dirty="0"/>
          </a:p>
          <a:p>
            <a:pPr lvl="1"/>
            <a:endParaRPr lang="en-US" sz="1600" dirty="0"/>
          </a:p>
          <a:p>
            <a:r>
              <a:rPr lang="en-IN" sz="2000" dirty="0"/>
              <a:t>Clone		// download + history</a:t>
            </a:r>
          </a:p>
          <a:p>
            <a:pPr lvl="1"/>
            <a:r>
              <a:rPr lang="en-IN" sz="1600" b="1" dirty="0"/>
              <a:t>git clone URL</a:t>
            </a:r>
          </a:p>
          <a:p>
            <a:r>
              <a:rPr lang="en-IN" sz="2000" dirty="0"/>
              <a:t>Push		// upload</a:t>
            </a:r>
          </a:p>
          <a:p>
            <a:pPr lvl="1"/>
            <a:r>
              <a:rPr lang="en-IN" sz="1600" b="1" dirty="0"/>
              <a:t>git push</a:t>
            </a:r>
          </a:p>
          <a:p>
            <a:r>
              <a:rPr lang="en-IN" sz="2000" dirty="0"/>
              <a:t>Pull		// download + merge</a:t>
            </a:r>
          </a:p>
          <a:p>
            <a:pPr lvl="1"/>
            <a:r>
              <a:rPr lang="en-IN" sz="1600" b="1" dirty="0"/>
              <a:t>git pull</a:t>
            </a:r>
          </a:p>
          <a:p>
            <a:r>
              <a:rPr lang="en-IN" sz="2000" dirty="0"/>
              <a:t>Fetch		//download only</a:t>
            </a:r>
          </a:p>
          <a:p>
            <a:pPr lvl="1"/>
            <a:r>
              <a:rPr lang="en-IN" sz="1600" b="1" dirty="0"/>
              <a:t>git fetch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1F7C5C-F855-47B7-598E-D4BB88FC3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699479"/>
              </p:ext>
            </p:extLst>
          </p:nvPr>
        </p:nvGraphicFramePr>
        <p:xfrm>
          <a:off x="6901343" y="2088214"/>
          <a:ext cx="503619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8096">
                  <a:extLst>
                    <a:ext uri="{9D8B030D-6E8A-4147-A177-3AD203B41FA5}">
                      <a16:colId xmlns:a16="http://schemas.microsoft.com/office/drawing/2014/main" val="2373745075"/>
                    </a:ext>
                  </a:extLst>
                </a:gridCol>
                <a:gridCol w="2518096">
                  <a:extLst>
                    <a:ext uri="{9D8B030D-6E8A-4147-A177-3AD203B41FA5}">
                      <a16:colId xmlns:a16="http://schemas.microsoft.com/office/drawing/2014/main" val="1350747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HTTPS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SSH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2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PAT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Uses Key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413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Professional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372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Beginner 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 Long-Term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4896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ask authentication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Usually password-free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4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45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A0BA0-CA75-A5C3-A874-57A904C3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0D63-EC01-FEA7-D7AE-93D99182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Commands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E0E812-99F7-64ED-F4F2-5697B184D531}"/>
              </a:ext>
            </a:extLst>
          </p:cNvPr>
          <p:cNvSpPr txBox="1"/>
          <p:nvPr/>
        </p:nvSpPr>
        <p:spPr>
          <a:xfrm>
            <a:off x="645952" y="834704"/>
            <a:ext cx="90601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git remote add origin URL</a:t>
            </a:r>
          </a:p>
          <a:p>
            <a:r>
              <a:rPr lang="en-US" sz="4400" dirty="0"/>
              <a:t>git remote -v</a:t>
            </a:r>
          </a:p>
          <a:p>
            <a:r>
              <a:rPr lang="en-US" sz="4400" dirty="0"/>
              <a:t>git branch -M main</a:t>
            </a:r>
          </a:p>
          <a:p>
            <a:r>
              <a:rPr lang="en-US" sz="4400" dirty="0"/>
              <a:t>git push -u origin main</a:t>
            </a:r>
          </a:p>
          <a:p>
            <a:r>
              <a:rPr lang="en-US" sz="4400" dirty="0"/>
              <a:t>git push</a:t>
            </a:r>
          </a:p>
          <a:p>
            <a:r>
              <a:rPr lang="en-US" sz="4400" dirty="0"/>
              <a:t>git clone URL</a:t>
            </a:r>
          </a:p>
          <a:p>
            <a:r>
              <a:rPr lang="en-US" sz="4400" dirty="0"/>
              <a:t>git pull</a:t>
            </a:r>
          </a:p>
          <a:p>
            <a:r>
              <a:rPr lang="en-US" sz="4400" dirty="0"/>
              <a:t>git fetch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88035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284B-C12E-DFCA-714D-93F71E4ED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0C78-137B-FED6-AB8C-081E996C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2F542-0149-4A13-7653-BC9E68B2ADC4}"/>
              </a:ext>
            </a:extLst>
          </p:cNvPr>
          <p:cNvSpPr txBox="1"/>
          <p:nvPr/>
        </p:nvSpPr>
        <p:spPr>
          <a:xfrm>
            <a:off x="672517" y="711201"/>
            <a:ext cx="1084696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b="1" dirty="0"/>
              <a:t>GitHub Remote Repository Integration.</a:t>
            </a:r>
            <a:endParaRPr lang="en-IN" sz="3200" b="1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Create repository on GitHub.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Connect local repository.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Push code.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Verify repository online</a:t>
            </a:r>
            <a:endParaRPr lang="en-US" sz="4000" dirty="0"/>
          </a:p>
          <a:p>
            <a:pPr lvl="0"/>
            <a:r>
              <a:rPr lang="en-US" sz="3200" b="1" dirty="0"/>
              <a:t>GitHub Collaboration Workflow.</a:t>
            </a:r>
            <a:endParaRPr lang="en-IN" sz="3200" b="1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Create branch feature-profile.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Add profile page.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Push branch to GitHub.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Create Pull Request.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Merge Pull Request.</a:t>
            </a:r>
            <a:endParaRPr lang="en-IN" sz="3200" dirty="0"/>
          </a:p>
          <a:p>
            <a:pPr marL="342900" lvl="0" indent="-342900">
              <a:buFont typeface="+mj-lt"/>
              <a:buAutoNum type="alphaLcParenR"/>
            </a:pPr>
            <a:r>
              <a:rPr lang="en-US" sz="3200" dirty="0"/>
              <a:t>Pull latest changes to local repository.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5305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00C6F-8351-FC59-42FB-92BB6FA5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A33008-D4E5-87B6-C8F1-72F99C3C3B2B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26DCE-8BA8-DF17-9047-672EA4F22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Advance git: rebase &amp; </a:t>
            </a:r>
            <a:r>
              <a:rPr lang="en-IN" dirty="0" err="1"/>
              <a:t>reflog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119CC-AF9C-58B9-DFEE-B3138383B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F487E"/>
                </a:solidFill>
              </a:rPr>
              <a:t>Section - 5</a:t>
            </a:r>
          </a:p>
        </p:txBody>
      </p:sp>
    </p:spTree>
    <p:extLst>
      <p:ext uri="{BB962C8B-B14F-4D97-AF65-F5344CB8AC3E}">
        <p14:creationId xmlns:p14="http://schemas.microsoft.com/office/powerpoint/2010/main" val="425347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4316-6636-39CC-58BF-6F5497BE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5E486-B77D-88D2-07D1-CF8B34B0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 git: rebase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F90D90A-5DCF-CDEE-DC08-E9D3EF60E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71787"/>
            <a:ext cx="11929641" cy="5712903"/>
          </a:xfrm>
        </p:spPr>
        <p:txBody>
          <a:bodyPr/>
          <a:lstStyle/>
          <a:p>
            <a:r>
              <a:rPr lang="en-IN" b="1" dirty="0"/>
              <a:t>Git Rebase</a:t>
            </a:r>
            <a:r>
              <a:rPr lang="en-IN" dirty="0"/>
              <a:t> – Rewrite commit history and create a cleaner project history</a:t>
            </a:r>
          </a:p>
          <a:p>
            <a:r>
              <a:rPr lang="en-IN" dirty="0"/>
              <a:t>Steps: (In local Repo)</a:t>
            </a:r>
          </a:p>
          <a:p>
            <a:pPr lvl="1"/>
            <a:r>
              <a:rPr lang="en-IN" dirty="0"/>
              <a:t>In master/main branch, create one file index.txt , add, commit A – First commit</a:t>
            </a:r>
          </a:p>
          <a:p>
            <a:pPr lvl="1"/>
            <a:r>
              <a:rPr lang="en-IN" dirty="0"/>
              <a:t>Create login branch, In login branch, create login.txt file, add, commit B -  First commit login branch</a:t>
            </a:r>
          </a:p>
          <a:p>
            <a:pPr lvl="1"/>
            <a:r>
              <a:rPr lang="en-IN" dirty="0"/>
              <a:t>In login branch, create navbar.txt file, add, commit C – Second commit login branch </a:t>
            </a:r>
          </a:p>
          <a:p>
            <a:pPr lvl="1"/>
            <a:r>
              <a:rPr lang="en-IN" dirty="0"/>
              <a:t>Switch to master branch, create another file home.txt , add, commit D – Second commit</a:t>
            </a:r>
          </a:p>
          <a:p>
            <a:pPr lvl="2"/>
            <a:r>
              <a:rPr lang="en-IN" dirty="0"/>
              <a:t>(login branch does not aware about commit D)</a:t>
            </a:r>
          </a:p>
          <a:p>
            <a:pPr lvl="1"/>
            <a:r>
              <a:rPr lang="en-IN" dirty="0"/>
              <a:t>Switch to login branch, </a:t>
            </a:r>
          </a:p>
          <a:p>
            <a:pPr lvl="1"/>
            <a:r>
              <a:rPr lang="en-IN" dirty="0"/>
              <a:t>Apply the command</a:t>
            </a:r>
          </a:p>
          <a:p>
            <a:pPr marL="457200" lvl="1" indent="0">
              <a:buNone/>
            </a:pPr>
            <a:r>
              <a:rPr lang="en-IN" b="1" i="1" dirty="0"/>
              <a:t>		git rebase master</a:t>
            </a:r>
          </a:p>
          <a:p>
            <a:pPr lvl="1"/>
            <a:r>
              <a:rPr lang="en-IN" dirty="0"/>
              <a:t>Git creates </a:t>
            </a:r>
            <a:r>
              <a:rPr lang="en-IN" b="1" dirty="0"/>
              <a:t>new versions</a:t>
            </a:r>
            <a:r>
              <a:rPr lang="en-IN" dirty="0"/>
              <a:t> of B and C.</a:t>
            </a:r>
          </a:p>
          <a:p>
            <a:pPr lvl="1"/>
            <a:r>
              <a:rPr lang="en-US" dirty="0"/>
              <a:t>Therefore, Commit IDs change.</a:t>
            </a:r>
          </a:p>
          <a:p>
            <a:pPr lvl="1"/>
            <a:r>
              <a:rPr lang="en-US" b="1" dirty="0">
                <a:highlight>
                  <a:srgbClr val="FFFF00"/>
                </a:highlight>
              </a:rPr>
              <a:t>Rebase rewrites history.</a:t>
            </a:r>
            <a:endParaRPr lang="en-IN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1B289-0135-A506-7C2D-C9928A29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025" y="2994048"/>
            <a:ext cx="6629975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9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E3C1-EA45-73FC-7AB5-8857B236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D921-D579-61FF-0095-BABB41E6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 git: </a:t>
            </a:r>
            <a:r>
              <a:rPr lang="en-IN" dirty="0" err="1"/>
              <a:t>reflog</a:t>
            </a:r>
            <a:endParaRPr lang="en-IN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1C9FA1D-BF9F-6314-B37E-9C7D244DE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771787"/>
            <a:ext cx="5339178" cy="5712903"/>
          </a:xfrm>
        </p:spPr>
        <p:txBody>
          <a:bodyPr/>
          <a:lstStyle/>
          <a:p>
            <a:r>
              <a:rPr lang="en-IN" b="1" dirty="0"/>
              <a:t>Git </a:t>
            </a:r>
            <a:r>
              <a:rPr lang="en-IN" b="1" dirty="0" err="1"/>
              <a:t>Reflog</a:t>
            </a:r>
            <a:endParaRPr lang="en-IN" b="1" dirty="0"/>
          </a:p>
          <a:p>
            <a:pPr lvl="1"/>
            <a:r>
              <a:rPr lang="en-IN" i="1" dirty="0"/>
              <a:t>git log</a:t>
            </a:r>
            <a:r>
              <a:rPr lang="en-IN" dirty="0"/>
              <a:t> only shows commits in the current history.</a:t>
            </a:r>
          </a:p>
          <a:p>
            <a:pPr lvl="1"/>
            <a:r>
              <a:rPr lang="en-IN" dirty="0"/>
              <a:t>But... What if history changes? Git stores another log Called </a:t>
            </a:r>
            <a:r>
              <a:rPr lang="en-IN" b="1" dirty="0" err="1"/>
              <a:t>Reflog</a:t>
            </a:r>
            <a:r>
              <a:rPr lang="en-IN" b="1" dirty="0"/>
              <a:t>.</a:t>
            </a:r>
            <a:endParaRPr lang="en-IN" dirty="0"/>
          </a:p>
          <a:p>
            <a:pPr lvl="1"/>
            <a:r>
              <a:rPr lang="en-IN" dirty="0"/>
              <a:t>Command:</a:t>
            </a:r>
          </a:p>
          <a:p>
            <a:pPr lvl="2"/>
            <a:r>
              <a:rPr lang="en-IN" i="1" dirty="0"/>
              <a:t>git </a:t>
            </a:r>
            <a:r>
              <a:rPr lang="en-IN" i="1" dirty="0" err="1"/>
              <a:t>reflog</a:t>
            </a:r>
            <a:endParaRPr lang="en-IN" i="1" dirty="0"/>
          </a:p>
          <a:p>
            <a:pPr lvl="1"/>
            <a:endParaRPr lang="en-IN" dirty="0"/>
          </a:p>
          <a:p>
            <a:pPr lvl="1"/>
            <a:r>
              <a:rPr lang="en-IN" dirty="0"/>
              <a:t>What Can </a:t>
            </a:r>
            <a:r>
              <a:rPr lang="en-IN" dirty="0" err="1"/>
              <a:t>Reflog</a:t>
            </a:r>
            <a:r>
              <a:rPr lang="en-IN" dirty="0"/>
              <a:t> Recover?</a:t>
            </a:r>
          </a:p>
          <a:p>
            <a:pPr lvl="2"/>
            <a:r>
              <a:rPr lang="en-IN" dirty="0"/>
              <a:t>Lost commits</a:t>
            </a:r>
          </a:p>
          <a:p>
            <a:pPr lvl="2"/>
            <a:r>
              <a:rPr lang="en-IN" dirty="0"/>
              <a:t>After reset</a:t>
            </a:r>
          </a:p>
          <a:p>
            <a:pPr lvl="2"/>
            <a:r>
              <a:rPr lang="en-IN" dirty="0"/>
              <a:t>After rebase</a:t>
            </a:r>
          </a:p>
          <a:p>
            <a:pPr lvl="2"/>
            <a:r>
              <a:rPr lang="en-IN" dirty="0"/>
              <a:t>Deleted branches (if commits are still referenced)</a:t>
            </a:r>
          </a:p>
          <a:p>
            <a:pPr lvl="2"/>
            <a:r>
              <a:rPr lang="en-IN" dirty="0"/>
              <a:t>Mistaken checkout</a:t>
            </a:r>
          </a:p>
          <a:p>
            <a:pPr lvl="2"/>
            <a:r>
              <a:rPr lang="en-IN" dirty="0"/>
              <a:t>Accidental hard reset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E4FA6-469C-4C61-69EB-2EE5DB98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632" y="72189"/>
            <a:ext cx="6617368" cy="653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6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EEAFD-0FA7-3354-09B4-3A1311CCE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9CE5A-78A1-DA36-8931-9FEAB1CB9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 git: </a:t>
            </a:r>
            <a:r>
              <a:rPr lang="en-IN" dirty="0" err="1"/>
              <a:t>reflog</a:t>
            </a:r>
            <a:endParaRPr lang="en-IN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8D6BD71-0207-1ADA-0B10-48F74AC57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771787"/>
            <a:ext cx="4828824" cy="5712903"/>
          </a:xfrm>
        </p:spPr>
        <p:txBody>
          <a:bodyPr/>
          <a:lstStyle/>
          <a:p>
            <a:r>
              <a:rPr lang="en-IN" b="1" dirty="0"/>
              <a:t>Git </a:t>
            </a:r>
            <a:r>
              <a:rPr lang="en-IN" b="1" dirty="0" err="1"/>
              <a:t>Reflog</a:t>
            </a:r>
            <a:endParaRPr lang="en-IN" dirty="0"/>
          </a:p>
          <a:p>
            <a:pPr lvl="1"/>
            <a:r>
              <a:rPr lang="en-IN" dirty="0"/>
              <a:t>What Can </a:t>
            </a:r>
            <a:r>
              <a:rPr lang="en-IN" dirty="0" err="1"/>
              <a:t>Reflog</a:t>
            </a:r>
            <a:r>
              <a:rPr lang="en-IN" dirty="0"/>
              <a:t> Recover?</a:t>
            </a:r>
          </a:p>
          <a:p>
            <a:pPr lvl="2"/>
            <a:r>
              <a:rPr lang="en-IN" dirty="0"/>
              <a:t>Lost commits</a:t>
            </a:r>
          </a:p>
          <a:p>
            <a:pPr lvl="2"/>
            <a:r>
              <a:rPr lang="en-IN" dirty="0"/>
              <a:t>After reset</a:t>
            </a:r>
          </a:p>
          <a:p>
            <a:pPr lvl="2"/>
            <a:r>
              <a:rPr lang="en-IN" dirty="0"/>
              <a:t>After rebase</a:t>
            </a:r>
          </a:p>
          <a:p>
            <a:pPr lvl="2"/>
            <a:r>
              <a:rPr lang="en-IN" dirty="0"/>
              <a:t>Deleted branches (if commits are still referenced)</a:t>
            </a:r>
          </a:p>
          <a:p>
            <a:pPr lvl="2"/>
            <a:r>
              <a:rPr lang="en-IN" dirty="0"/>
              <a:t>Mistaken checkout</a:t>
            </a:r>
          </a:p>
          <a:p>
            <a:pPr lvl="2"/>
            <a:r>
              <a:rPr lang="en-IN" dirty="0"/>
              <a:t>Accidental hard reset</a:t>
            </a:r>
          </a:p>
          <a:p>
            <a:pPr marL="914400" lvl="2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13A54-674A-99EA-DF9D-FC57A9649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294" y="635700"/>
            <a:ext cx="7184706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0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7342A-3457-CC7D-9E81-19DE3EB2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B9883-074F-8592-963D-F14F91D2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 git: </a:t>
            </a:r>
            <a:r>
              <a:rPr lang="en-IN" dirty="0" err="1"/>
              <a:t>reflog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13AFF6-0A8D-44F6-404E-7F6C107AF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159069"/>
              </p:ext>
            </p:extLst>
          </p:nvPr>
        </p:nvGraphicFramePr>
        <p:xfrm>
          <a:off x="1010066" y="994868"/>
          <a:ext cx="9333560" cy="3551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7975">
                  <a:extLst>
                    <a:ext uri="{9D8B030D-6E8A-4147-A177-3AD203B41FA5}">
                      <a16:colId xmlns:a16="http://schemas.microsoft.com/office/drawing/2014/main" val="1277412889"/>
                    </a:ext>
                  </a:extLst>
                </a:gridCol>
                <a:gridCol w="4605585">
                  <a:extLst>
                    <a:ext uri="{9D8B030D-6E8A-4147-A177-3AD203B41FA5}">
                      <a16:colId xmlns:a16="http://schemas.microsoft.com/office/drawing/2014/main" val="828027710"/>
                    </a:ext>
                  </a:extLst>
                </a:gridCol>
              </a:tblGrid>
              <a:tr h="399228">
                <a:tc>
                  <a:txBody>
                    <a:bodyPr/>
                    <a:lstStyle/>
                    <a:p>
                      <a:r>
                        <a:rPr lang="en-IN" sz="2400" dirty="0"/>
                        <a:t>git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git </a:t>
                      </a:r>
                      <a:r>
                        <a:rPr lang="en-IN" sz="2400" dirty="0" err="1"/>
                        <a:t>reflog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357566"/>
                  </a:ext>
                </a:extLst>
              </a:tr>
              <a:tr h="69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Shows commit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Shows HEAD movement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564320"/>
                  </a:ext>
                </a:extLst>
              </a:tr>
              <a:tr h="998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Only reachable commits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Includes commits that may no longer be in the visible history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855900"/>
                  </a:ext>
                </a:extLst>
              </a:tr>
              <a:tr h="69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Shared with everyone when pushed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/>
                        <a:t>Local to your repository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1225874"/>
                  </a:ext>
                </a:extLst>
              </a:tr>
              <a:tr h="69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Used for viewing project history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300" dirty="0"/>
                        <a:t>Used for recovery and troubleshooting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9283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64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Devlopment</a:t>
            </a:r>
            <a:r>
              <a:rPr lang="en-US" dirty="0"/>
              <a:t> Tools</a:t>
            </a:r>
            <a:r>
              <a:rPr lang="en-IN" dirty="0"/>
              <a:t>(DT) </a:t>
            </a:r>
          </a:p>
          <a:p>
            <a:r>
              <a:rPr lang="en-IN" dirty="0"/>
              <a:t>DU #2605CS104</a:t>
            </a:r>
            <a:r>
              <a:rPr lang="en-US" dirty="0"/>
              <a:t>  </a:t>
            </a: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062" y="5200076"/>
            <a:ext cx="1353599" cy="1353599"/>
          </a:xfrm>
        </p:spPr>
      </p:pic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3DBA187F-35FB-4421-14B8-1F09658322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IN" dirty="0"/>
              <a:t>Samir.kariya@darshan.ac.in</a:t>
            </a:r>
            <a:endParaRPr lang="en-US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935255C-363E-CCE7-C47F-A9F0D3D54F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IN" dirty="0"/>
              <a:t>9427148490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1296DA93-1207-28E2-2399-ABA4E014C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35998" cy="290081"/>
          </a:xfrm>
        </p:spPr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1CF4FB48-13F6-44AD-8A0E-99AD1EBE19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IN" dirty="0"/>
              <a:t>Prof. Samir Kariya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14521</TotalTime>
  <Words>1967</Words>
  <Application>Microsoft Office PowerPoint</Application>
  <PresentationFormat>Widescreen</PresentationFormat>
  <Paragraphs>911</Paragraphs>
  <Slides>65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6" baseType="lpstr">
      <vt:lpstr>Wingdings 3</vt:lpstr>
      <vt:lpstr>Roboto Condensed Light</vt:lpstr>
      <vt:lpstr>Wingdings 2</vt:lpstr>
      <vt:lpstr>Segoe UI Black</vt:lpstr>
      <vt:lpstr>Courier New</vt:lpstr>
      <vt:lpstr>Roboto Condensed</vt:lpstr>
      <vt:lpstr>Wingdings</vt:lpstr>
      <vt:lpstr>Calibri</vt:lpstr>
      <vt:lpstr>Consolas</vt:lpstr>
      <vt:lpstr>Arial</vt:lpstr>
      <vt:lpstr>Office Theme</vt:lpstr>
      <vt:lpstr>Unit-01  Git &amp; GitHub</vt:lpstr>
      <vt:lpstr>PowerPoint Presentation</vt:lpstr>
      <vt:lpstr>Foundations &amp; the local workflow</vt:lpstr>
      <vt:lpstr>Story</vt:lpstr>
      <vt:lpstr>Story</vt:lpstr>
      <vt:lpstr>Story</vt:lpstr>
      <vt:lpstr>Story</vt:lpstr>
      <vt:lpstr>Story</vt:lpstr>
      <vt:lpstr>What is Version Control?</vt:lpstr>
      <vt:lpstr>Problems Without Version Control</vt:lpstr>
      <vt:lpstr>What is Git?</vt:lpstr>
      <vt:lpstr>Why Git is Important?</vt:lpstr>
      <vt:lpstr>Git Architecture</vt:lpstr>
      <vt:lpstr>Git Local Workflow</vt:lpstr>
      <vt:lpstr>Installing Git</vt:lpstr>
      <vt:lpstr>Initial Git Configuration</vt:lpstr>
      <vt:lpstr>Creating a Git Repository</vt:lpstr>
      <vt:lpstr>Creating a Git Repository</vt:lpstr>
      <vt:lpstr>Creating a Git Repository</vt:lpstr>
      <vt:lpstr>Creating First Commit</vt:lpstr>
      <vt:lpstr>Viewing Commit History</vt:lpstr>
      <vt:lpstr>Understanding File States in Git</vt:lpstr>
      <vt:lpstr>Common Git Commands Summary</vt:lpstr>
      <vt:lpstr>Mastering commits and undoing mistakes</vt:lpstr>
      <vt:lpstr>What is a Commit?</vt:lpstr>
      <vt:lpstr>Commit Messages</vt:lpstr>
      <vt:lpstr>Commit</vt:lpstr>
      <vt:lpstr>Commit</vt:lpstr>
      <vt:lpstr>VIEWING CHANGES</vt:lpstr>
      <vt:lpstr>UNDOING MISTAKES</vt:lpstr>
      <vt:lpstr>UNDOING MISTAKES</vt:lpstr>
      <vt:lpstr>UNDOING MISTAKES</vt:lpstr>
      <vt:lpstr>FIXING COMMIT MISTAKES</vt:lpstr>
      <vt:lpstr>FIXING COMMIT MISTAKES</vt:lpstr>
      <vt:lpstr>UNDOING COMMITTED CHANGES</vt:lpstr>
      <vt:lpstr>UNDOING COMMITTED CHANGES</vt:lpstr>
      <vt:lpstr>UNDOING COMMITTED CHANGES</vt:lpstr>
      <vt:lpstr>UNDOING COMMITTED CHANGES</vt:lpstr>
      <vt:lpstr>UNDOING COMMITTED CHANGES</vt:lpstr>
      <vt:lpstr>UNDOING COMMITTED CHANGES</vt:lpstr>
      <vt:lpstr>UNDOING COMMITTED CHANGES</vt:lpstr>
      <vt:lpstr>Branching and Merging </vt:lpstr>
      <vt:lpstr>Introduction to Branch</vt:lpstr>
      <vt:lpstr>Introduction to Branch</vt:lpstr>
      <vt:lpstr>Demo - Branch and Merge</vt:lpstr>
      <vt:lpstr>Demo - Branch and Merge</vt:lpstr>
      <vt:lpstr>Demo - Branch and Merge</vt:lpstr>
      <vt:lpstr>What is Merge Conflict?</vt:lpstr>
      <vt:lpstr>Delete Branch</vt:lpstr>
      <vt:lpstr>Github &amp; remote collaborations </vt:lpstr>
      <vt:lpstr>What is GitHub?</vt:lpstr>
      <vt:lpstr>Why GitHub?</vt:lpstr>
      <vt:lpstr>GitHub Workflow  </vt:lpstr>
      <vt:lpstr>Important Terminology </vt:lpstr>
      <vt:lpstr>Important Terminology </vt:lpstr>
      <vt:lpstr>Connecting Local Git with GitHub  </vt:lpstr>
      <vt:lpstr>Connecting Local Git with GitHub  </vt:lpstr>
      <vt:lpstr>Common Commands</vt:lpstr>
      <vt:lpstr>Demo</vt:lpstr>
      <vt:lpstr>Advance git: rebase &amp; reflog </vt:lpstr>
      <vt:lpstr>Advance git: rebase</vt:lpstr>
      <vt:lpstr>Advance git: reflog</vt:lpstr>
      <vt:lpstr>Advance git: reflog</vt:lpstr>
      <vt:lpstr>Advance git: reflog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1115</cp:revision>
  <dcterms:created xsi:type="dcterms:W3CDTF">2020-05-01T05:09:15Z</dcterms:created>
  <dcterms:modified xsi:type="dcterms:W3CDTF">2026-08-14T07:42:11Z</dcterms:modified>
</cp:coreProperties>
</file>